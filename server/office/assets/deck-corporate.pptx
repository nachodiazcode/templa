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presentation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marL="0" indent="0" defTabSz="914400">
        <a:lnSpc>
          <a:spcPct val="110000"/>
        </a:lnSpc>
        <a:spcBef>
          <a:spcPts val="0"/>
        </a:spcBef>
        <a:spcAft>
          <a:spcPts val="0"/>
        </a:spcAft>
        <a:buNone/>
        <a:defRPr sz="4000" b="1" dirty="0">
          <a:solidFill>
            <a:srgbClr val="22222F"/>
          </a:solidFill>
          <a:latin typeface="Arial"/>
        </a:defRPr>
      </a:lvl1pPr>
    </p:titleStyle>
    <p:bodyStyle>
      <a:lvl1pPr marL="342900" indent="-342900" defTabSz="914400">
        <a:lnSpc>
          <a:spcPct val="115000"/>
        </a:lnSpc>
        <a:spcBef>
          <a:spcPts val="600"/>
        </a:spcBef>
        <a:spcAft>
          <a:spcPts val="600"/>
        </a:spcAft>
        <a:buFont typeface="Arial"/>
        <a:buChar char="•"/>
        <a:defRPr sz="1800" dirty="0">
          <a:solidFill>
            <a:srgbClr val="22222F"/>
          </a:solidFill>
          <a:latin typeface="Arial"/>
        </a:defRPr>
      </a:lvl1pPr>
    </p:bodyStyle>
    <p:otherStyle>
      <a:defPPr/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26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27" name="Ficha"/>
          <p:cNvSpPr/>
          <p:nvPr/>
        </p:nvSpPr>
        <p:spPr>
          <a:xfrm>
            <a:off x="9472000" y="1260000"/>
            <a:ext cx="2600000" cy="4300000"/>
          </a:xfrm>
          <a:prstGeom prst="rect"/>
          <a:solidFill>
            <a:srgbClr val="60A5FA">
              <a:alpha val="12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28" name="Ficha"/>
          <p:cNvSpPr/>
          <p:nvPr/>
        </p:nvSpPr>
        <p:spPr>
          <a:xfrm>
            <a:off x="7032000" y="2300000"/>
            <a:ext cx="5000000" cy="2600000"/>
          </a:xfrm>
          <a:prstGeom prst="rect"/>
          <a:solidFill>
            <a:srgbClr val="1F6FEB">
              <a:alpha val="9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29" name="Kicker-portada"/>
          <p:cNvSpPr>
            <a:spLocks noGrp="1"/>
          </p:cNvSpPr>
          <p:nvPr/>
        </p:nvSpPr>
        <p:spPr>
          <a:xfrm>
            <a:off x="914400" y="2250000"/>
            <a:ext cx="9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PRESENTACIÓN · CORPORATIVA</a:t>
            </a:r>
            <a:endParaRPr lang="es-CL" sz="1800"/>
          </a:p>
        </p:txBody>
      </p:sp>
      <p:sp>
        <p:nvSpPr>
          <p:cNvPr id="130" name="Titulo-portada"/>
          <p:cNvSpPr>
            <a:spLocks noGrp="1"/>
          </p:cNvSpPr>
          <p:nvPr/>
        </p:nvSpPr>
        <p:spPr>
          <a:xfrm>
            <a:off x="914400" y="2750000"/>
            <a:ext cx="9400000" cy="13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Reporte trimestral de resultados</a:t>
            </a:r>
            <a:endParaRPr lang="es-CL" sz="1800"/>
          </a:p>
        </p:txBody>
      </p:sp>
      <p:sp>
        <p:nvSpPr>
          <p:cNvPr id="131" name="Sub-portada"/>
          <p:cNvSpPr>
            <a:spLocks noGrp="1"/>
          </p:cNvSpPr>
          <p:nvPr/>
        </p:nvSpPr>
        <p:spPr>
          <a:xfrm>
            <a:off x="914400" y="4200000"/>
            <a:ext cx="900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1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Formato ejecutivo para boards, comités y clientes corporativos</a:t>
            </a:r>
            <a:endParaRPr lang="es-CL" sz="1800"/>
          </a:p>
        </p:txBody>
      </p:sp>
      <p:sp>
        <p:nvSpPr>
          <p:cNvPr id="132" name="Autor"/>
          <p:cNvSpPr>
            <a:spLocks noGrp="1"/>
          </p:cNvSpPr>
          <p:nvPr/>
        </p:nvSpPr>
        <p:spPr>
          <a:xfrm>
            <a:off x="914400" y="5450000"/>
            <a:ext cx="8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4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Presentado por __tu_nombre__</a:t>
            </a:r>
            <a:endParaRPr lang="es-CL" sz="1800"/>
          </a:p>
        </p:txBody>
      </p:sp>
      <p:sp>
        <p:nvSpPr>
          <p:cNvPr id="133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1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34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35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AGENDA</a:t>
            </a:r>
            <a:endParaRPr lang="es-CL" sz="1800"/>
          </a:p>
        </p:txBody>
      </p:sp>
      <p:sp>
        <p:nvSpPr>
          <p:cNvPr id="136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Temas a cubrir</a:t>
            </a:r>
            <a:endParaRPr lang="es-CL" sz="1800"/>
          </a:p>
        </p:txBody>
      </p:sp>
      <p:sp>
        <p:nvSpPr>
          <p:cNvPr id="137" name="Agenda-wrap"/>
          <p:cNvSpPr>
            <a:spLocks noGrp="1"/>
          </p:cNvSpPr>
          <p:nvPr/>
        </p:nvSpPr>
        <p:spPr>
          <a:xfrm>
            <a:off x="914400" y="2800000"/>
            <a:ext cx="10400000" cy="24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01  </a:t>
            </a:r>
            <a:r>
              <a:rPr lang="es-CL" altLang="en-US" sz="20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Resumen ejecutivo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02  </a:t>
            </a:r>
            <a:r>
              <a:rPr lang="es-CL" altLang="en-US" sz="20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Resultados financieros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03  </a:t>
            </a:r>
            <a:r>
              <a:rPr lang="es-CL" altLang="en-US" sz="20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Clientes y mercado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04  </a:t>
            </a:r>
            <a:r>
              <a:rPr lang="es-CL" altLang="en-US" sz="20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Riesgos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05  </a:t>
            </a:r>
            <a:r>
              <a:rPr lang="es-CL" altLang="en-US" sz="20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Plan Q+1</a:t>
            </a:r>
            <a:endParaRPr lang="es-CL" sz="1800"/>
          </a:p>
        </p:txBody>
      </p:sp>
      <p:sp>
        <p:nvSpPr>
          <p:cNvPr id="138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2</a:t>
            </a:r>
            <a:endParaRPr lang="es-C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39" name="Barra divisor"/>
          <p:cNvSpPr/>
          <p:nvPr/>
        </p:nvSpPr>
        <p:spPr>
          <a:xfrm>
            <a:off x="0" y="5334000"/>
            <a:ext cx="12192000" cy="1524000"/>
          </a:xfrm>
          <a:prstGeom prst="rect"/>
          <a:solidFill>
            <a:srgbClr val="15181F"/>
          </a:solidFill>
        </p:spPr>
        <p:txBody>
          <a:bodyPr wrap="none" lIns="0" tIns="0" rIns="0" bIns="0"/>
          <a:lstStyle/>
          <a:p/>
        </p:txBody>
      </p:sp>
      <p:sp>
        <p:nvSpPr>
          <p:cNvPr id="140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41" name="Num-seccion"/>
          <p:cNvSpPr>
            <a:spLocks noGrp="1"/>
          </p:cNvSpPr>
          <p:nvPr/>
        </p:nvSpPr>
        <p:spPr>
          <a:xfrm>
            <a:off x="914400" y="1800000"/>
            <a:ext cx="4600000" cy="2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90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03</a:t>
            </a:r>
            <a:endParaRPr lang="es-CL" sz="1800"/>
          </a:p>
        </p:txBody>
      </p:sp>
      <p:sp>
        <p:nvSpPr>
          <p:cNvPr id="142" name="Tit-seccion"/>
          <p:cNvSpPr>
            <a:spLocks noGrp="1"/>
          </p:cNvSpPr>
          <p:nvPr/>
        </p:nvSpPr>
        <p:spPr>
          <a:xfrm>
            <a:off x="1314400" y="4200000"/>
            <a:ext cx="9000000" cy="11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Resultados</a:t>
            </a:r>
            <a:endParaRPr lang="es-CL" sz="1800"/>
          </a:p>
        </p:txBody>
      </p:sp>
      <p:sp>
        <p:nvSpPr>
          <p:cNvPr id="143" name="Sub-seccion"/>
          <p:cNvSpPr>
            <a:spLocks noGrp="1"/>
          </p:cNvSpPr>
          <p:nvPr/>
        </p:nvSpPr>
        <p:spPr>
          <a:xfrm>
            <a:off x="1314400" y="5350000"/>
            <a:ext cx="8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8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Giro, margen y crecimiento en el trimestre</a:t>
            </a:r>
            <a:endParaRPr lang="es-CL" sz="1800"/>
          </a:p>
        </p:txBody>
      </p:sp>
      <p:sp>
        <p:nvSpPr>
          <p:cNvPr id="144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3</a:t>
            </a:r>
            <a:endParaRPr lang="es-CL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45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46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RESUMEN</a:t>
            </a:r>
            <a:endParaRPr lang="es-CL" sz="1800"/>
          </a:p>
        </p:txBody>
      </p:sp>
      <p:sp>
        <p:nvSpPr>
          <p:cNvPr id="147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Lo esencial</a:t>
            </a:r>
            <a:endParaRPr lang="es-CL" sz="1800"/>
          </a:p>
        </p:txBody>
      </p:sp>
      <p:sp>
        <p:nvSpPr>
          <p:cNvPr id="148" name="Tarjeta"/>
          <p:cNvSpPr/>
          <p:nvPr/>
        </p:nvSpPr>
        <p:spPr>
          <a:xfrm>
            <a:off x="914400" y="2900000"/>
            <a:ext cx="10400000" cy="2900000"/>
          </a:xfrm>
          <a:prstGeom prst="roundRect">
            <a:avLst>
              <a:gd name="adj" fmla="val 4000"/>
            </a:avLst>
          </a:prstGeom>
          <a:solidFill>
            <a:srgbClr val="1F6FEB">
              <a:alpha val="6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49" name="Bullets"/>
          <p:cNvSpPr>
            <a:spLocks noGrp="1"/>
          </p:cNvSpPr>
          <p:nvPr/>
        </p:nvSpPr>
        <p:spPr>
          <a:xfrm>
            <a:off x="2014400" y="3150000"/>
            <a:ext cx="8800000" cy="25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Crecimiento de ingresos del 18% vs. el trimestre anterior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Margen bruto estable en 62% pese a mayor inversión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Churn mensual reducido a 1.2%, récord histórico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Tres lanzamientos clave ejecutados sin riesgo crítico</a:t>
            </a:r>
            <a:endParaRPr lang="es-CL" sz="1800"/>
          </a:p>
        </p:txBody>
      </p:sp>
      <p:sp>
        <p:nvSpPr>
          <p:cNvPr id="150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4</a:t>
            </a:r>
            <a:endParaRPr lang="es-CL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51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52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CLIENTES</a:t>
            </a:r>
            <a:endParaRPr lang="es-CL" sz="1800"/>
          </a:p>
        </p:txBody>
      </p:sp>
      <p:sp>
        <p:nvSpPr>
          <p:cNvPr id="153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36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Mercado</a:t>
            </a:r>
            <a:endParaRPr lang="es-CL" sz="1800"/>
          </a:p>
        </p:txBody>
      </p:sp>
      <p:sp>
        <p:nvSpPr>
          <p:cNvPr id="154" name="Col A"/>
          <p:cNvSpPr/>
          <p:nvPr/>
        </p:nvSpPr>
        <p:spPr>
          <a:xfrm>
            <a:off x="91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1F6FEB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55" name="Col B"/>
          <p:cNvSpPr/>
          <p:nvPr/>
        </p:nvSpPr>
        <p:spPr>
          <a:xfrm>
            <a:off x="636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60A5FA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56" name="Cabeza A"/>
          <p:cNvSpPr>
            <a:spLocks noGrp="1"/>
          </p:cNvSpPr>
          <p:nvPr/>
        </p:nvSpPr>
        <p:spPr>
          <a:xfrm>
            <a:off x="131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Retención</a:t>
            </a:r>
            <a:endParaRPr lang="es-CL" sz="1800"/>
          </a:p>
        </p:txBody>
      </p:sp>
      <p:sp>
        <p:nvSpPr>
          <p:cNvPr id="157" name="Cuerpo A"/>
          <p:cNvSpPr>
            <a:spLocks noGrp="1"/>
          </p:cNvSpPr>
          <p:nvPr/>
        </p:nvSpPr>
        <p:spPr>
          <a:xfrm>
            <a:off x="131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NPS de 68 y renovaciones anticipadas en el 41% de la cartera.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→ Sigue</a:t>
            </a:r>
            <a:endParaRPr lang="es-CL" sz="1800"/>
          </a:p>
        </p:txBody>
      </p:sp>
      <p:sp>
        <p:nvSpPr>
          <p:cNvPr id="158" name="Cabeza B"/>
          <p:cNvSpPr>
            <a:spLocks noGrp="1"/>
          </p:cNvSpPr>
          <p:nvPr/>
        </p:nvSpPr>
        <p:spPr>
          <a:xfrm>
            <a:off x="676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Expansión</a:t>
            </a:r>
            <a:endParaRPr lang="es-CL" sz="1800"/>
          </a:p>
        </p:txBody>
      </p:sp>
      <p:sp>
        <p:nvSpPr>
          <p:cNvPr id="159" name="Cuerpo B"/>
          <p:cNvSpPr>
            <a:spLocks noGrp="1"/>
          </p:cNvSpPr>
          <p:nvPr/>
        </p:nvSpPr>
        <p:spPr>
          <a:xfrm>
            <a:off x="676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Dos cuentas enterprise nuevas y 14 upsells cerrados en el período.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→ Descubre</a:t>
            </a:r>
            <a:endParaRPr lang="es-CL" sz="1800"/>
          </a:p>
        </p:txBody>
      </p:sp>
      <p:sp>
        <p:nvSpPr>
          <p:cNvPr id="160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5</a:t>
            </a:r>
            <a:endParaRPr lang="es-CL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61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62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FINANCIERO</a:t>
            </a:r>
            <a:endParaRPr lang="es-CL" sz="1800"/>
          </a:p>
        </p:txBody>
      </p:sp>
      <p:sp>
        <p:nvSpPr>
          <p:cNvPr id="163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Indicadores clave</a:t>
            </a:r>
            <a:endParaRPr lang="es-CL" sz="1800"/>
          </a:p>
        </p:txBody>
      </p:sp>
      <p:sp>
        <p:nvSpPr>
          <p:cNvPr id="164" name="Stat"/>
          <p:cNvSpPr/>
          <p:nvPr/>
        </p:nvSpPr>
        <p:spPr>
          <a:xfrm>
            <a:off x="914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65" name="Stat-n"/>
          <p:cNvSpPr>
            <a:spLocks noGrp="1"/>
          </p:cNvSpPr>
          <p:nvPr/>
        </p:nvSpPr>
        <p:spPr>
          <a:xfrm>
            <a:off x="914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+18%</a:t>
            </a:r>
            <a:endParaRPr lang="es-CL" sz="1800"/>
          </a:p>
        </p:txBody>
      </p:sp>
      <p:sp>
        <p:nvSpPr>
          <p:cNvPr id="166" name="Stat-t"/>
          <p:cNvSpPr>
            <a:spLocks noGrp="1"/>
          </p:cNvSpPr>
          <p:nvPr/>
        </p:nvSpPr>
        <p:spPr>
          <a:xfrm>
            <a:off x="914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Ingresos</a:t>
            </a:r>
            <a:endParaRPr lang="es-CL" sz="1800"/>
          </a:p>
        </p:txBody>
      </p:sp>
      <p:sp>
        <p:nvSpPr>
          <p:cNvPr id="167" name="Stat"/>
          <p:cNvSpPr/>
          <p:nvPr/>
        </p:nvSpPr>
        <p:spPr>
          <a:xfrm>
            <a:off x="3685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60A5FA"/>
          </a:solidFill>
        </p:spPr>
        <p:txBody>
          <a:bodyPr wrap="none" lIns="0" tIns="0" rIns="0" bIns="0"/>
          <a:lstStyle/>
          <a:p/>
        </p:txBody>
      </p:sp>
      <p:sp>
        <p:nvSpPr>
          <p:cNvPr id="168" name="Stat-n"/>
          <p:cNvSpPr>
            <a:spLocks noGrp="1"/>
          </p:cNvSpPr>
          <p:nvPr/>
        </p:nvSpPr>
        <p:spPr>
          <a:xfrm>
            <a:off x="3685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62%</a:t>
            </a:r>
            <a:endParaRPr lang="es-CL" sz="1800"/>
          </a:p>
        </p:txBody>
      </p:sp>
      <p:sp>
        <p:nvSpPr>
          <p:cNvPr id="169" name="Stat-t"/>
          <p:cNvSpPr>
            <a:spLocks noGrp="1"/>
          </p:cNvSpPr>
          <p:nvPr/>
        </p:nvSpPr>
        <p:spPr>
          <a:xfrm>
            <a:off x="3685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Margen</a:t>
            </a:r>
            <a:endParaRPr lang="es-CL" sz="1800"/>
          </a:p>
        </p:txBody>
      </p:sp>
      <p:sp>
        <p:nvSpPr>
          <p:cNvPr id="170" name="Stat"/>
          <p:cNvSpPr/>
          <p:nvPr/>
        </p:nvSpPr>
        <p:spPr>
          <a:xfrm>
            <a:off x="6456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71" name="Stat-n"/>
          <p:cNvSpPr>
            <a:spLocks noGrp="1"/>
          </p:cNvSpPr>
          <p:nvPr/>
        </p:nvSpPr>
        <p:spPr>
          <a:xfrm>
            <a:off x="6456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1.2%</a:t>
            </a:r>
            <a:endParaRPr lang="es-CL" sz="1800"/>
          </a:p>
        </p:txBody>
      </p:sp>
      <p:sp>
        <p:nvSpPr>
          <p:cNvPr id="172" name="Stat-t"/>
          <p:cNvSpPr>
            <a:spLocks noGrp="1"/>
          </p:cNvSpPr>
          <p:nvPr/>
        </p:nvSpPr>
        <p:spPr>
          <a:xfrm>
            <a:off x="6456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Churn</a:t>
            </a:r>
            <a:endParaRPr lang="es-CL" sz="1800"/>
          </a:p>
        </p:txBody>
      </p:sp>
      <p:sp>
        <p:nvSpPr>
          <p:cNvPr id="173" name="Stat"/>
          <p:cNvSpPr/>
          <p:nvPr/>
        </p:nvSpPr>
        <p:spPr>
          <a:xfrm>
            <a:off x="9227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60A5FA"/>
          </a:solidFill>
        </p:spPr>
        <p:txBody>
          <a:bodyPr wrap="none" lIns="0" tIns="0" rIns="0" bIns="0"/>
          <a:lstStyle/>
          <a:p/>
        </p:txBody>
      </p:sp>
      <p:sp>
        <p:nvSpPr>
          <p:cNvPr id="174" name="Stat-n"/>
          <p:cNvSpPr>
            <a:spLocks noGrp="1"/>
          </p:cNvSpPr>
          <p:nvPr/>
        </p:nvSpPr>
        <p:spPr>
          <a:xfrm>
            <a:off x="9227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68</a:t>
            </a:r>
            <a:endParaRPr lang="es-CL" sz="1800"/>
          </a:p>
        </p:txBody>
      </p:sp>
      <p:sp>
        <p:nvSpPr>
          <p:cNvPr id="175" name="Stat-t"/>
          <p:cNvSpPr>
            <a:spLocks noGrp="1"/>
          </p:cNvSpPr>
          <p:nvPr/>
        </p:nvSpPr>
        <p:spPr>
          <a:xfrm>
            <a:off x="9227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NPS</a:t>
            </a:r>
            <a:endParaRPr lang="es-CL" sz="1800"/>
          </a:p>
        </p:txBody>
      </p:sp>
      <p:sp>
        <p:nvSpPr>
          <p:cNvPr id="17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6</a:t>
            </a:r>
            <a:endParaRPr lang="es-CL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77" name="Comilla"/>
          <p:cNvSpPr/>
          <p:nvPr/>
        </p:nvSpPr>
        <p:spPr>
          <a:xfrm>
            <a:off x="914400" y="1900000"/>
            <a:ext cx="1000000" cy="70000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78" name="Quote"/>
          <p:cNvSpPr>
            <a:spLocks noGrp="1"/>
          </p:cNvSpPr>
          <p:nvPr/>
        </p:nvSpPr>
        <p:spPr>
          <a:xfrm>
            <a:off x="1114400" y="2850000"/>
            <a:ext cx="9600000" cy="19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500"/>
              </a:spcAft>
              <a:buNone/>
            </a:pPr>
            <a:r>
              <a:rPr lang="es-CL" altLang="en-US" sz="3000" b="0" i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La confianza se construye con métricas consistentes trimestre a trimestre.</a:t>
            </a:r>
            <a:endParaRPr lang="es-CL" sz="1800"/>
          </a:p>
          <a:p>
            <a:pPr marL="0" indent="0" lvl="0">
              <a:spcBef>
                <a:spcPts val="600"/>
              </a:spcBef>
              <a:buNone/>
            </a:pPr>
            <a:r>
              <a:rPr lang="es-CL" altLang="en-US" sz="1800" b="1" dirty="0">
                <a:solidFill>
                  <a:srgbClr val="1F6FEB"/>
                </a:solidFill>
                <a:latin typeface="Arial"/>
                <a:ea typeface="Arial"/>
                <a:cs typeface="Arial"/>
              </a:rPr>
              <a:t>— Comité directivo</a:t>
            </a:r>
            <a:endParaRPr lang="es-CL" sz="1800"/>
          </a:p>
        </p:txBody>
      </p:sp>
      <p:sp>
        <p:nvSpPr>
          <p:cNvPr id="179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7</a:t>
            </a:r>
            <a:endParaRPr lang="es-CL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25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  <p:txBody>
          <a:bodyPr wrap="none" lIns="0" tIns="0" rIns="0" bIns="0"/>
          <a:lstStyle/>
          <a:p/>
        </p:txBody>
      </p:sp>
      <p:sp>
        <p:nvSpPr>
          <p:cNvPr id="180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81" name="Glow"/>
          <p:cNvSpPr/>
          <p:nvPr/>
        </p:nvSpPr>
        <p:spPr>
          <a:xfrm>
            <a:off x="8992000" y="-1100000"/>
            <a:ext cx="4000000" cy="4000000"/>
          </a:xfrm>
          <a:prstGeom prst="rect"/>
          <a:solidFill>
            <a:srgbClr val="1F6FEB">
              <a:alpha val="14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82" name="Cierre"/>
          <p:cNvSpPr>
            <a:spLocks noGrp="1"/>
          </p:cNvSpPr>
          <p:nvPr/>
        </p:nvSpPr>
        <p:spPr>
          <a:xfrm>
            <a:off x="914400" y="2700000"/>
            <a:ext cx="94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15181F"/>
                </a:solidFill>
                <a:latin typeface="Arial"/>
                <a:ea typeface="Arial"/>
                <a:cs typeface="Arial"/>
              </a:rPr>
              <a:t>Gracias</a:t>
            </a:r>
            <a:endParaRPr lang="es-CL" sz="1800"/>
          </a:p>
        </p:txBody>
      </p:sp>
      <p:sp>
        <p:nvSpPr>
          <p:cNvPr id="183" name="Cierre-sub"/>
          <p:cNvSpPr>
            <a:spLocks noGrp="1"/>
          </p:cNvSpPr>
          <p:nvPr/>
        </p:nvSpPr>
        <p:spPr>
          <a:xfrm>
            <a:off x="914400" y="3850000"/>
            <a:ext cx="9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Detalle completo disponible en el anexo financiero</a:t>
            </a:r>
            <a:endParaRPr lang="es-CL" sz="1800"/>
          </a:p>
        </p:txBody>
      </p:sp>
      <p:sp>
        <p:nvSpPr>
          <p:cNvPr id="184" name="Btn"/>
          <p:cNvSpPr/>
          <p:nvPr/>
        </p:nvSpPr>
        <p:spPr>
          <a:xfrm>
            <a:off x="914400" y="4700000"/>
            <a:ext cx="2800000" cy="800000"/>
          </a:xfrm>
          <a:prstGeom prst="roundRect">
            <a:avLst>
              <a:gd name="adj" fmla="val 16000"/>
            </a:avLst>
          </a:prstGeom>
          <a:solidFill>
            <a:srgbClr val="1F6FEB"/>
          </a:solidFill>
        </p:spPr>
        <p:txBody>
          <a:bodyPr wrap="none" lIns="0" tIns="0" rIns="0" bIns="0"/>
          <a:lstStyle/>
          <a:p/>
        </p:txBody>
      </p:sp>
      <p:sp>
        <p:nvSpPr>
          <p:cNvPr id="185" name="Btn-t"/>
          <p:cNvSpPr>
            <a:spLocks noGrp="1"/>
          </p:cNvSpPr>
          <p:nvPr/>
        </p:nvSpPr>
        <p:spPr>
          <a:xfrm>
            <a:off x="914400" y="4700000"/>
            <a:ext cx="2800000" cy="8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 anexo →</a:t>
            </a:r>
            <a:endParaRPr lang="es-CL" sz="1800"/>
          </a:p>
        </p:txBody>
      </p:sp>
      <p:sp>
        <p:nvSpPr>
          <p:cNvPr id="18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Templa · Boardroom  |  8</a:t>
            </a:r>
            <a:endParaRPr lang="es-CL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">
  <a:themeElements>
    <a:clrScheme name="Templa">
      <a:dk1>
        <a:srgbClr val="22222F"/>
      </a:dk1>
      <a:lt1>
        <a:srgbClr val="FFFFFF"/>
      </a:lt1>
      <a:dk2>
        <a:srgbClr val="44546A"/>
      </a:dk2>
      <a:lt2>
        <a:srgbClr val="E7E6E6"/>
      </a:lt2>
      <a:accent1>
        <a:srgbClr val="1F6FEB"/>
      </a:accent1>
      <a:accent2>
        <a:srgbClr val="60A5FA"/>
      </a:accent2>
      <a:accent3>
        <a:srgbClr val="F59E0B"/>
      </a:accent3>
      <a:accent4>
        <a:srgbClr val="10B981"/>
      </a:accent4>
      <a:accent5>
        <a:srgbClr val="3B82F6"/>
      </a:accent5>
      <a:accent6>
        <a:srgbClr val="E11D48"/>
      </a:accent6>
      <a:hlink>
        <a:srgbClr val="0563C1"/>
      </a:hlink>
      <a:folHlink>
        <a:srgbClr val="954F72"/>
      </a:folHlink>
    </a:clrScheme>
    <a:fontScheme name="Templ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Temp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2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shade val="20000"/>
              </a:schemeClr>
            </a:gs>
            <a:gs pos="100000">
              <a:schemeClr val="phClr">
                <a:tint val="80000"/>
              </a:schemeClr>
            </a:gs>
          </a:gsLst>
          <a:path path="rect">
            <a:fillToRect l="50000" t="0" r="5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Templa Office Builder</Application>
  <PresentationFormat>Widescreen</PresentationFormat>
  <Slides>8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Boardroom · undefined</dc:title>
  <dc:creator>Templa</dc:creator>
  <cp:lastModifiedBy>Templa</cp:lastModifiedBy>
  <dcterms:created xsi:type="dcterms:W3CDTF">2026-01-01T00:00:00Z</dcterms:created>
  <dcterms:modified xsi:type="dcterms:W3CDTF">2026-01-01T00:00:00Z</dcterms:modified>
</cp:coreProperties>
</file>