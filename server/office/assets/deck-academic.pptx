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presentationml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/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marL="0" indent="0" defTabSz="914400">
        <a:lnSpc>
          <a:spcPct val="110000"/>
        </a:lnSpc>
        <a:spcBef>
          <a:spcPts val="0"/>
        </a:spcBef>
        <a:spcAft>
          <a:spcPts val="0"/>
        </a:spcAft>
        <a:buNone/>
        <a:defRPr sz="4000" b="1" dirty="0">
          <a:solidFill>
            <a:srgbClr val="22222F"/>
          </a:solidFill>
          <a:latin typeface="Arial"/>
        </a:defRPr>
      </a:lvl1pPr>
    </p:titleStyle>
    <p:bodyStyle>
      <a:lvl1pPr marL="342900" indent="-342900" defTabSz="914400">
        <a:lnSpc>
          <a:spcPct val="115000"/>
        </a:lnSpc>
        <a:spcBef>
          <a:spcPts val="600"/>
        </a:spcBef>
        <a:spcAft>
          <a:spcPts val="600"/>
        </a:spcAft>
        <a:buFont typeface="Arial"/>
        <a:buChar char="•"/>
        <a:defRPr sz="1800" dirty="0">
          <a:solidFill>
            <a:srgbClr val="22222F"/>
          </a:solidFill>
          <a:latin typeface="Arial"/>
        </a:defRPr>
      </a:lvl1pPr>
    </p:bodyStyle>
    <p:otherStyle>
      <a:defPPr/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87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8FAF9"/>
          </a:solidFill>
        </p:spPr>
        <p:txBody>
          <a:bodyPr wrap="none" lIns="0" tIns="0" rIns="0" bIns="0"/>
          <a:lstStyle/>
          <a:p/>
        </p:txBody>
      </p:sp>
      <p:sp>
        <p:nvSpPr>
          <p:cNvPr id="188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0F766E"/>
          </a:solidFill>
        </p:spPr>
        <p:txBody>
          <a:bodyPr wrap="none" lIns="0" tIns="0" rIns="0" bIns="0"/>
          <a:lstStyle/>
          <a:p/>
        </p:txBody>
      </p:sp>
      <p:sp>
        <p:nvSpPr>
          <p:cNvPr id="189" name="Ficha"/>
          <p:cNvSpPr/>
          <p:nvPr/>
        </p:nvSpPr>
        <p:spPr>
          <a:xfrm>
            <a:off x="9472000" y="1260000"/>
            <a:ext cx="2600000" cy="4300000"/>
          </a:xfrm>
          <a:prstGeom prst="rect"/>
          <a:solidFill>
            <a:srgbClr val="2DD4BF">
              <a:alpha val="12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190" name="Ficha"/>
          <p:cNvSpPr/>
          <p:nvPr/>
        </p:nvSpPr>
        <p:spPr>
          <a:xfrm>
            <a:off x="7032000" y="2300000"/>
            <a:ext cx="5000000" cy="2600000"/>
          </a:xfrm>
          <a:prstGeom prst="rect"/>
          <a:solidFill>
            <a:srgbClr val="0F766E">
              <a:alpha val="9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191" name="Kicker-portada"/>
          <p:cNvSpPr>
            <a:spLocks noGrp="1"/>
          </p:cNvSpPr>
          <p:nvPr/>
        </p:nvSpPr>
        <p:spPr>
          <a:xfrm>
            <a:off x="914400" y="2250000"/>
            <a:ext cx="9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PRESENTACIÓN · ACADÉMICA</a:t>
            </a:r>
            <a:endParaRPr lang="es-CL" sz="1800"/>
          </a:p>
        </p:txBody>
      </p:sp>
      <p:sp>
        <p:nvSpPr>
          <p:cNvPr id="192" name="Titulo-portada"/>
          <p:cNvSpPr>
            <a:spLocks noGrp="1"/>
          </p:cNvSpPr>
          <p:nvPr/>
        </p:nvSpPr>
        <p:spPr>
          <a:xfrm>
            <a:off x="914400" y="2750000"/>
            <a:ext cx="9400000" cy="13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5200" b="1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Título tentativo de investigación</a:t>
            </a:r>
            <a:endParaRPr lang="es-CL" sz="1800"/>
          </a:p>
        </p:txBody>
      </p:sp>
      <p:sp>
        <p:nvSpPr>
          <p:cNvPr id="193" name="Sub-portada"/>
          <p:cNvSpPr>
            <a:spLocks noGrp="1"/>
          </p:cNvSpPr>
          <p:nvPr/>
        </p:nvSpPr>
        <p:spPr>
          <a:xfrm>
            <a:off x="914400" y="4200000"/>
            <a:ext cx="900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21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Estructura para tesis, seminarios y defensas frente a comités</a:t>
            </a:r>
            <a:endParaRPr lang="es-CL" sz="1800"/>
          </a:p>
        </p:txBody>
      </p:sp>
      <p:sp>
        <p:nvSpPr>
          <p:cNvPr id="194" name="Autor"/>
          <p:cNvSpPr>
            <a:spLocks noGrp="1"/>
          </p:cNvSpPr>
          <p:nvPr/>
        </p:nvSpPr>
        <p:spPr>
          <a:xfrm>
            <a:off x="914400" y="5450000"/>
            <a:ext cx="8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4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Presentado por __tu_nombre__</a:t>
            </a:r>
            <a:endParaRPr lang="es-CL" sz="1800"/>
          </a:p>
        </p:txBody>
      </p:sp>
      <p:sp>
        <p:nvSpPr>
          <p:cNvPr id="195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Templa · Seminario  |  1</a:t>
            </a:r>
            <a:endParaRPr lang="es-CL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87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8FAF9"/>
          </a:solidFill>
        </p:spPr>
        <p:txBody>
          <a:bodyPr wrap="none" lIns="0" tIns="0" rIns="0" bIns="0"/>
          <a:lstStyle/>
          <a:p/>
        </p:txBody>
      </p:sp>
      <p:sp>
        <p:nvSpPr>
          <p:cNvPr id="196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0F766E"/>
          </a:solidFill>
        </p:spPr>
        <p:txBody>
          <a:bodyPr wrap="none" lIns="0" tIns="0" rIns="0" bIns="0"/>
          <a:lstStyle/>
          <a:p/>
        </p:txBody>
      </p:sp>
      <p:sp>
        <p:nvSpPr>
          <p:cNvPr id="197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AGENDA</a:t>
            </a:r>
            <a:endParaRPr lang="es-CL" sz="1800"/>
          </a:p>
        </p:txBody>
      </p:sp>
      <p:sp>
        <p:nvSpPr>
          <p:cNvPr id="198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Temas a cubrir</a:t>
            </a:r>
            <a:endParaRPr lang="es-CL" sz="1800"/>
          </a:p>
        </p:txBody>
      </p:sp>
      <p:sp>
        <p:nvSpPr>
          <p:cNvPr id="199" name="Agenda-wrap"/>
          <p:cNvSpPr>
            <a:spLocks noGrp="1"/>
          </p:cNvSpPr>
          <p:nvPr/>
        </p:nvSpPr>
        <p:spPr>
          <a:xfrm>
            <a:off x="914400" y="2800000"/>
            <a:ext cx="10400000" cy="24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01  </a:t>
            </a:r>
            <a:r>
              <a:rPr lang="es-CL" altLang="en-US" sz="2000" b="0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Planteamiento del problema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02  </a:t>
            </a:r>
            <a:r>
              <a:rPr lang="es-CL" altLang="en-US" sz="2000" b="0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Marco teórico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03  </a:t>
            </a:r>
            <a:r>
              <a:rPr lang="es-CL" altLang="en-US" sz="2000" b="0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Metodología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04  </a:t>
            </a:r>
            <a:r>
              <a:rPr lang="es-CL" altLang="en-US" sz="2000" b="0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Hallazgos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05  </a:t>
            </a:r>
            <a:r>
              <a:rPr lang="es-CL" altLang="en-US" sz="2000" b="0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Conclusiones</a:t>
            </a:r>
            <a:endParaRPr lang="es-CL" sz="1800"/>
          </a:p>
        </p:txBody>
      </p:sp>
      <p:sp>
        <p:nvSpPr>
          <p:cNvPr id="200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Templa · Seminario  |  2</a:t>
            </a:r>
            <a:endParaRPr lang="es-CL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87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8FAF9"/>
          </a:solidFill>
        </p:spPr>
        <p:txBody>
          <a:bodyPr wrap="none" lIns="0" tIns="0" rIns="0" bIns="0"/>
          <a:lstStyle/>
          <a:p/>
        </p:txBody>
      </p:sp>
      <p:sp>
        <p:nvSpPr>
          <p:cNvPr id="201" name="Barra divisor"/>
          <p:cNvSpPr/>
          <p:nvPr/>
        </p:nvSpPr>
        <p:spPr>
          <a:xfrm>
            <a:off x="0" y="5334000"/>
            <a:ext cx="12192000" cy="1524000"/>
          </a:xfrm>
          <a:prstGeom prst="rect"/>
          <a:solidFill>
            <a:srgbClr val="1C2B2A"/>
          </a:solidFill>
        </p:spPr>
        <p:txBody>
          <a:bodyPr wrap="none" lIns="0" tIns="0" rIns="0" bIns="0"/>
          <a:lstStyle/>
          <a:p/>
        </p:txBody>
      </p:sp>
      <p:sp>
        <p:nvSpPr>
          <p:cNvPr id="202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0F766E"/>
          </a:solidFill>
        </p:spPr>
        <p:txBody>
          <a:bodyPr wrap="none" lIns="0" tIns="0" rIns="0" bIns="0"/>
          <a:lstStyle/>
          <a:p/>
        </p:txBody>
      </p:sp>
      <p:sp>
        <p:nvSpPr>
          <p:cNvPr id="203" name="Num-seccion"/>
          <p:cNvSpPr>
            <a:spLocks noGrp="1"/>
          </p:cNvSpPr>
          <p:nvPr/>
        </p:nvSpPr>
        <p:spPr>
          <a:xfrm>
            <a:off x="914400" y="1800000"/>
            <a:ext cx="4600000" cy="2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90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02</a:t>
            </a:r>
            <a:endParaRPr lang="es-CL" sz="1800"/>
          </a:p>
        </p:txBody>
      </p:sp>
      <p:sp>
        <p:nvSpPr>
          <p:cNvPr id="204" name="Tit-seccion"/>
          <p:cNvSpPr>
            <a:spLocks noGrp="1"/>
          </p:cNvSpPr>
          <p:nvPr/>
        </p:nvSpPr>
        <p:spPr>
          <a:xfrm>
            <a:off x="1314400" y="4200000"/>
            <a:ext cx="9000000" cy="11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Marco teórico</a:t>
            </a:r>
            <a:endParaRPr lang="es-CL" sz="1800"/>
          </a:p>
        </p:txBody>
      </p:sp>
      <p:sp>
        <p:nvSpPr>
          <p:cNvPr id="205" name="Sub-seccion"/>
          <p:cNvSpPr>
            <a:spLocks noGrp="1"/>
          </p:cNvSpPr>
          <p:nvPr/>
        </p:nvSpPr>
        <p:spPr>
          <a:xfrm>
            <a:off x="1314400" y="5350000"/>
            <a:ext cx="8000000" cy="5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8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Estado del arte y preguntas de investigación</a:t>
            </a:r>
            <a:endParaRPr lang="es-CL" sz="1800"/>
          </a:p>
        </p:txBody>
      </p:sp>
      <p:sp>
        <p:nvSpPr>
          <p:cNvPr id="206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Templa · Seminario  |  3</a:t>
            </a:r>
            <a:endParaRPr lang="es-CL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87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8FAF9"/>
          </a:solidFill>
        </p:spPr>
        <p:txBody>
          <a:bodyPr wrap="none" lIns="0" tIns="0" rIns="0" bIns="0"/>
          <a:lstStyle/>
          <a:p/>
        </p:txBody>
      </p:sp>
      <p:sp>
        <p:nvSpPr>
          <p:cNvPr id="207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0F766E"/>
          </a:solidFill>
        </p:spPr>
        <p:txBody>
          <a:bodyPr wrap="none" lIns="0" tIns="0" rIns="0" bIns="0"/>
          <a:lstStyle/>
          <a:p/>
        </p:txBody>
      </p:sp>
      <p:sp>
        <p:nvSpPr>
          <p:cNvPr id="208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METODOLOGÍA</a:t>
            </a:r>
            <a:endParaRPr lang="es-CL" sz="1800"/>
          </a:p>
        </p:txBody>
      </p:sp>
      <p:sp>
        <p:nvSpPr>
          <p:cNvPr id="209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Cómo se investigó</a:t>
            </a:r>
            <a:endParaRPr lang="es-CL" sz="1800"/>
          </a:p>
        </p:txBody>
      </p:sp>
      <p:sp>
        <p:nvSpPr>
          <p:cNvPr id="210" name="Tarjeta"/>
          <p:cNvSpPr/>
          <p:nvPr/>
        </p:nvSpPr>
        <p:spPr>
          <a:xfrm>
            <a:off x="914400" y="2900000"/>
            <a:ext cx="10400000" cy="2900000"/>
          </a:xfrm>
          <a:prstGeom prst="roundRect">
            <a:avLst>
              <a:gd name="adj" fmla="val 4000"/>
            </a:avLst>
          </a:prstGeom>
          <a:solidFill>
            <a:srgbClr val="0F766E">
              <a:alpha val="6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211" name="Bullets"/>
          <p:cNvSpPr>
            <a:spLocks noGrp="1"/>
          </p:cNvSpPr>
          <p:nvPr/>
        </p:nvSpPr>
        <p:spPr>
          <a:xfrm>
            <a:off x="2014400" y="3150000"/>
            <a:ext cx="8800000" cy="25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Enfoque mixto con revisión sistemática de literatura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Muestra de 240 participantes y 12 entrevistas a profundidad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Análisis temático con triangulación de fuentes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Rigor garantizado por pares revisores del comité</a:t>
            </a:r>
            <a:endParaRPr lang="es-CL" sz="1800"/>
          </a:p>
        </p:txBody>
      </p:sp>
      <p:sp>
        <p:nvSpPr>
          <p:cNvPr id="212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Templa · Seminario  |  4</a:t>
            </a:r>
            <a:endParaRPr lang="es-CL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87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8FAF9"/>
          </a:solidFill>
        </p:spPr>
        <p:txBody>
          <a:bodyPr wrap="none" lIns="0" tIns="0" rIns="0" bIns="0"/>
          <a:lstStyle/>
          <a:p/>
        </p:txBody>
      </p:sp>
      <p:sp>
        <p:nvSpPr>
          <p:cNvPr id="213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0F766E"/>
          </a:solidFill>
        </p:spPr>
        <p:txBody>
          <a:bodyPr wrap="none" lIns="0" tIns="0" rIns="0" bIns="0"/>
          <a:lstStyle/>
          <a:p/>
        </p:txBody>
      </p:sp>
      <p:sp>
        <p:nvSpPr>
          <p:cNvPr id="214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HALLAZGOS</a:t>
            </a:r>
            <a:endParaRPr lang="es-CL" sz="1800"/>
          </a:p>
        </p:txBody>
      </p:sp>
      <p:sp>
        <p:nvSpPr>
          <p:cNvPr id="215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3600" b="1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Discusión</a:t>
            </a:r>
            <a:endParaRPr lang="es-CL" sz="1800"/>
          </a:p>
        </p:txBody>
      </p:sp>
      <p:sp>
        <p:nvSpPr>
          <p:cNvPr id="216" name="Col A"/>
          <p:cNvSpPr/>
          <p:nvPr/>
        </p:nvSpPr>
        <p:spPr>
          <a:xfrm>
            <a:off x="914400" y="3000000"/>
            <a:ext cx="4950000" cy="2500000"/>
          </a:xfrm>
          <a:prstGeom prst="roundRect">
            <a:avLst>
              <a:gd name="adj" fmla="val 6000"/>
            </a:avLst>
          </a:prstGeom>
          <a:solidFill>
            <a:srgbClr val="0F766E">
              <a:alpha val="5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217" name="Col B"/>
          <p:cNvSpPr/>
          <p:nvPr/>
        </p:nvSpPr>
        <p:spPr>
          <a:xfrm>
            <a:off x="6364400" y="3000000"/>
            <a:ext cx="4950000" cy="2500000"/>
          </a:xfrm>
          <a:prstGeom prst="roundRect">
            <a:avLst>
              <a:gd name="adj" fmla="val 6000"/>
            </a:avLst>
          </a:prstGeom>
          <a:solidFill>
            <a:srgbClr val="2DD4BF">
              <a:alpha val="5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218" name="Cabeza A"/>
          <p:cNvSpPr>
            <a:spLocks noGrp="1"/>
          </p:cNvSpPr>
          <p:nvPr/>
        </p:nvSpPr>
        <p:spPr>
          <a:xfrm>
            <a:off x="1314400" y="3220000"/>
            <a:ext cx="4200000" cy="500000"/>
          </a:xfrm>
          <a:prstGeom prst="rect"/>
          <a:noFill/>
          <a:ln>
            <a:noFill/>
          </a:ln>
        </p:spPr>
        <p:txBody>
          <a:bodyPr wrap="square" anchor="l" lIns="0" tIns="0" rIns="0" bIns="0"/>
          <a:lstStyle/>
          <a:p>
            <a:pPr marL="0" indent="0" lvl="0">
              <a:buNone/>
            </a:pPr>
            <a:r>
              <a:rPr lang="es-CL" altLang="en-US" sz="2300" b="1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Dato central</a:t>
            </a:r>
            <a:endParaRPr lang="es-CL" sz="1800"/>
          </a:p>
        </p:txBody>
      </p:sp>
      <p:sp>
        <p:nvSpPr>
          <p:cNvPr id="219" name="Cuerpo A"/>
          <p:cNvSpPr>
            <a:spLocks noGrp="1"/>
          </p:cNvSpPr>
          <p:nvPr/>
        </p:nvSpPr>
        <p:spPr>
          <a:xfrm>
            <a:off x="1314400" y="3750000"/>
            <a:ext cx="4200000" cy="16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300"/>
              </a:spcAft>
              <a:buNone/>
            </a:pPr>
            <a:r>
              <a:rPr lang="es-CL" altLang="en-US" sz="16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El 87% de los casos presentó correlación significativa (p &lt; 0.05).</a:t>
            </a:r>
            <a:endParaRPr lang="es-CL" sz="1800"/>
          </a:p>
          <a:p>
            <a:pPr marL="0" indent="0" lvl="0">
              <a:spcBef>
                <a:spcPts val="400"/>
              </a:spcBef>
              <a:buNone/>
            </a:pPr>
            <a:r>
              <a:rPr lang="es-CL" altLang="en-US" sz="15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→ Sigue</a:t>
            </a:r>
            <a:endParaRPr lang="es-CL" sz="1800"/>
          </a:p>
        </p:txBody>
      </p:sp>
      <p:sp>
        <p:nvSpPr>
          <p:cNvPr id="220" name="Cabeza B"/>
          <p:cNvSpPr>
            <a:spLocks noGrp="1"/>
          </p:cNvSpPr>
          <p:nvPr/>
        </p:nvSpPr>
        <p:spPr>
          <a:xfrm>
            <a:off x="6764400" y="3220000"/>
            <a:ext cx="4200000" cy="500000"/>
          </a:xfrm>
          <a:prstGeom prst="rect"/>
          <a:noFill/>
          <a:ln>
            <a:noFill/>
          </a:ln>
        </p:spPr>
        <p:txBody>
          <a:bodyPr wrap="square" anchor="l" lIns="0" tIns="0" rIns="0" bIns="0"/>
          <a:lstStyle/>
          <a:p>
            <a:pPr marL="0" indent="0" lvl="0">
              <a:buNone/>
            </a:pPr>
            <a:r>
              <a:rPr lang="es-CL" altLang="en-US" sz="2300" b="1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Límite</a:t>
            </a:r>
            <a:endParaRPr lang="es-CL" sz="1800"/>
          </a:p>
        </p:txBody>
      </p:sp>
      <p:sp>
        <p:nvSpPr>
          <p:cNvPr id="221" name="Cuerpo B"/>
          <p:cNvSpPr>
            <a:spLocks noGrp="1"/>
          </p:cNvSpPr>
          <p:nvPr/>
        </p:nvSpPr>
        <p:spPr>
          <a:xfrm>
            <a:off x="6764400" y="3750000"/>
            <a:ext cx="4200000" cy="16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300"/>
              </a:spcAft>
              <a:buNone/>
            </a:pPr>
            <a:r>
              <a:rPr lang="es-CL" altLang="en-US" sz="16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El alcance geográfico invita a replicar el estudio en otros contextos.</a:t>
            </a:r>
            <a:endParaRPr lang="es-CL" sz="1800"/>
          </a:p>
          <a:p>
            <a:pPr marL="0" indent="0" lvl="0">
              <a:spcBef>
                <a:spcPts val="400"/>
              </a:spcBef>
              <a:buNone/>
            </a:pPr>
            <a:r>
              <a:rPr lang="es-CL" altLang="en-US" sz="15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→ Descubre</a:t>
            </a:r>
            <a:endParaRPr lang="es-CL" sz="1800"/>
          </a:p>
        </p:txBody>
      </p:sp>
      <p:sp>
        <p:nvSpPr>
          <p:cNvPr id="222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Templa · Seminario  |  5</a:t>
            </a:r>
            <a:endParaRPr lang="es-CL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87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8FAF9"/>
          </a:solidFill>
        </p:spPr>
        <p:txBody>
          <a:bodyPr wrap="none" lIns="0" tIns="0" rIns="0" bIns="0"/>
          <a:lstStyle/>
          <a:p/>
        </p:txBody>
      </p:sp>
      <p:sp>
        <p:nvSpPr>
          <p:cNvPr id="223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0F766E"/>
          </a:solidFill>
        </p:spPr>
        <p:txBody>
          <a:bodyPr wrap="none" lIns="0" tIns="0" rIns="0" bIns="0"/>
          <a:lstStyle/>
          <a:p/>
        </p:txBody>
      </p:sp>
      <p:sp>
        <p:nvSpPr>
          <p:cNvPr id="224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RESULTADOS</a:t>
            </a:r>
            <a:endParaRPr lang="es-CL" sz="1800"/>
          </a:p>
        </p:txBody>
      </p:sp>
      <p:sp>
        <p:nvSpPr>
          <p:cNvPr id="225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Datos del estudio</a:t>
            </a:r>
            <a:endParaRPr lang="es-CL" sz="1800"/>
          </a:p>
        </p:txBody>
      </p:sp>
      <p:sp>
        <p:nvSpPr>
          <p:cNvPr id="226" name="Stat"/>
          <p:cNvSpPr/>
          <p:nvPr/>
        </p:nvSpPr>
        <p:spPr>
          <a:xfrm>
            <a:off x="914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0F766E"/>
          </a:solidFill>
        </p:spPr>
        <p:txBody>
          <a:bodyPr wrap="none" lIns="0" tIns="0" rIns="0" bIns="0"/>
          <a:lstStyle/>
          <a:p/>
        </p:txBody>
      </p:sp>
      <p:sp>
        <p:nvSpPr>
          <p:cNvPr id="227" name="Stat-n"/>
          <p:cNvSpPr>
            <a:spLocks noGrp="1"/>
          </p:cNvSpPr>
          <p:nvPr/>
        </p:nvSpPr>
        <p:spPr>
          <a:xfrm>
            <a:off x="914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87%</a:t>
            </a:r>
            <a:endParaRPr lang="es-CL" sz="1800"/>
          </a:p>
        </p:txBody>
      </p:sp>
      <p:sp>
        <p:nvSpPr>
          <p:cNvPr id="228" name="Stat-t"/>
          <p:cNvSpPr>
            <a:spLocks noGrp="1"/>
          </p:cNvSpPr>
          <p:nvPr/>
        </p:nvSpPr>
        <p:spPr>
          <a:xfrm>
            <a:off x="914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Correlación</a:t>
            </a:r>
            <a:endParaRPr lang="es-CL" sz="1800"/>
          </a:p>
        </p:txBody>
      </p:sp>
      <p:sp>
        <p:nvSpPr>
          <p:cNvPr id="229" name="Stat"/>
          <p:cNvSpPr/>
          <p:nvPr/>
        </p:nvSpPr>
        <p:spPr>
          <a:xfrm>
            <a:off x="3685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2DD4BF"/>
          </a:solidFill>
        </p:spPr>
        <p:txBody>
          <a:bodyPr wrap="none" lIns="0" tIns="0" rIns="0" bIns="0"/>
          <a:lstStyle/>
          <a:p/>
        </p:txBody>
      </p:sp>
      <p:sp>
        <p:nvSpPr>
          <p:cNvPr id="230" name="Stat-n"/>
          <p:cNvSpPr>
            <a:spLocks noGrp="1"/>
          </p:cNvSpPr>
          <p:nvPr/>
        </p:nvSpPr>
        <p:spPr>
          <a:xfrm>
            <a:off x="3685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  <a:endParaRPr lang="es-CL" sz="1800"/>
          </a:p>
        </p:txBody>
      </p:sp>
      <p:sp>
        <p:nvSpPr>
          <p:cNvPr id="231" name="Stat-t"/>
          <p:cNvSpPr>
            <a:spLocks noGrp="1"/>
          </p:cNvSpPr>
          <p:nvPr/>
        </p:nvSpPr>
        <p:spPr>
          <a:xfrm>
            <a:off x="3685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Muestra</a:t>
            </a:r>
            <a:endParaRPr lang="es-CL" sz="1800"/>
          </a:p>
        </p:txBody>
      </p:sp>
      <p:sp>
        <p:nvSpPr>
          <p:cNvPr id="232" name="Stat"/>
          <p:cNvSpPr/>
          <p:nvPr/>
        </p:nvSpPr>
        <p:spPr>
          <a:xfrm>
            <a:off x="6456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0F766E"/>
          </a:solidFill>
        </p:spPr>
        <p:txBody>
          <a:bodyPr wrap="none" lIns="0" tIns="0" rIns="0" bIns="0"/>
          <a:lstStyle/>
          <a:p/>
        </p:txBody>
      </p:sp>
      <p:sp>
        <p:nvSpPr>
          <p:cNvPr id="233" name="Stat-n"/>
          <p:cNvSpPr>
            <a:spLocks noGrp="1"/>
          </p:cNvSpPr>
          <p:nvPr/>
        </p:nvSpPr>
        <p:spPr>
          <a:xfrm>
            <a:off x="6456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  <a:endParaRPr lang="es-CL" sz="1800"/>
          </a:p>
        </p:txBody>
      </p:sp>
      <p:sp>
        <p:nvSpPr>
          <p:cNvPr id="234" name="Stat-t"/>
          <p:cNvSpPr>
            <a:spLocks noGrp="1"/>
          </p:cNvSpPr>
          <p:nvPr/>
        </p:nvSpPr>
        <p:spPr>
          <a:xfrm>
            <a:off x="6456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Entrevistas</a:t>
            </a:r>
            <a:endParaRPr lang="es-CL" sz="1800"/>
          </a:p>
        </p:txBody>
      </p:sp>
      <p:sp>
        <p:nvSpPr>
          <p:cNvPr id="235" name="Stat"/>
          <p:cNvSpPr/>
          <p:nvPr/>
        </p:nvSpPr>
        <p:spPr>
          <a:xfrm>
            <a:off x="9227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2DD4BF"/>
          </a:solidFill>
        </p:spPr>
        <p:txBody>
          <a:bodyPr wrap="none" lIns="0" tIns="0" rIns="0" bIns="0"/>
          <a:lstStyle/>
          <a:p/>
        </p:txBody>
      </p:sp>
      <p:sp>
        <p:nvSpPr>
          <p:cNvPr id="236" name="Stat-n"/>
          <p:cNvSpPr>
            <a:spLocks noGrp="1"/>
          </p:cNvSpPr>
          <p:nvPr/>
        </p:nvSpPr>
        <p:spPr>
          <a:xfrm>
            <a:off x="9227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p&lt;.05</a:t>
            </a:r>
            <a:endParaRPr lang="es-CL" sz="1800"/>
          </a:p>
        </p:txBody>
      </p:sp>
      <p:sp>
        <p:nvSpPr>
          <p:cNvPr id="237" name="Stat-t"/>
          <p:cNvSpPr>
            <a:spLocks noGrp="1"/>
          </p:cNvSpPr>
          <p:nvPr/>
        </p:nvSpPr>
        <p:spPr>
          <a:xfrm>
            <a:off x="9227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Sig.</a:t>
            </a:r>
            <a:endParaRPr lang="es-CL" sz="1800"/>
          </a:p>
        </p:txBody>
      </p:sp>
      <p:sp>
        <p:nvSpPr>
          <p:cNvPr id="238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Templa · Seminario  |  6</a:t>
            </a:r>
            <a:endParaRPr lang="es-CL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87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8FAF9"/>
          </a:solidFill>
        </p:spPr>
        <p:txBody>
          <a:bodyPr wrap="none" lIns="0" tIns="0" rIns="0" bIns="0"/>
          <a:lstStyle/>
          <a:p/>
        </p:txBody>
      </p:sp>
      <p:sp>
        <p:nvSpPr>
          <p:cNvPr id="239" name="Comilla"/>
          <p:cNvSpPr/>
          <p:nvPr/>
        </p:nvSpPr>
        <p:spPr>
          <a:xfrm>
            <a:off x="914400" y="1900000"/>
            <a:ext cx="1000000" cy="700000"/>
          </a:xfrm>
          <a:prstGeom prst="rect"/>
          <a:solidFill>
            <a:srgbClr val="0F766E"/>
          </a:solidFill>
        </p:spPr>
        <p:txBody>
          <a:bodyPr wrap="none" lIns="0" tIns="0" rIns="0" bIns="0"/>
          <a:lstStyle/>
          <a:p/>
        </p:txBody>
      </p:sp>
      <p:sp>
        <p:nvSpPr>
          <p:cNvPr id="240" name="Quote"/>
          <p:cNvSpPr>
            <a:spLocks noGrp="1"/>
          </p:cNvSpPr>
          <p:nvPr/>
        </p:nvSpPr>
        <p:spPr>
          <a:xfrm>
            <a:off x="1114400" y="2850000"/>
            <a:ext cx="9600000" cy="19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500"/>
              </a:spcAft>
              <a:buNone/>
            </a:pPr>
            <a:r>
              <a:rPr lang="es-CL" altLang="en-US" sz="3000" b="0" i="1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Una investigación bien planteada resuelve una pregunta que merece ser respondida.</a:t>
            </a:r>
            <a:endParaRPr lang="es-CL" sz="1800"/>
          </a:p>
          <a:p>
            <a:pPr marL="0" indent="0" lvl="0">
              <a:spcBef>
                <a:spcPts val="600"/>
              </a:spcBef>
              <a:buNone/>
            </a:pPr>
            <a:r>
              <a:rPr lang="es-CL" altLang="en-US" sz="18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— Comité evaluador</a:t>
            </a:r>
            <a:endParaRPr lang="es-CL" sz="1800"/>
          </a:p>
        </p:txBody>
      </p:sp>
      <p:sp>
        <p:nvSpPr>
          <p:cNvPr id="241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Templa · Seminario  |  7</a:t>
            </a:r>
            <a:endParaRPr lang="es-CL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87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8FAF9"/>
          </a:solidFill>
        </p:spPr>
        <p:txBody>
          <a:bodyPr wrap="none" lIns="0" tIns="0" rIns="0" bIns="0"/>
          <a:lstStyle/>
          <a:p/>
        </p:txBody>
      </p:sp>
      <p:sp>
        <p:nvSpPr>
          <p:cNvPr id="242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0F766E"/>
          </a:solidFill>
        </p:spPr>
        <p:txBody>
          <a:bodyPr wrap="none" lIns="0" tIns="0" rIns="0" bIns="0"/>
          <a:lstStyle/>
          <a:p/>
        </p:txBody>
      </p:sp>
      <p:sp>
        <p:nvSpPr>
          <p:cNvPr id="243" name="Glow"/>
          <p:cNvSpPr/>
          <p:nvPr/>
        </p:nvSpPr>
        <p:spPr>
          <a:xfrm>
            <a:off x="8992000" y="-1100000"/>
            <a:ext cx="4000000" cy="4000000"/>
          </a:xfrm>
          <a:prstGeom prst="rect"/>
          <a:solidFill>
            <a:srgbClr val="0F766E">
              <a:alpha val="14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244" name="Cierre"/>
          <p:cNvSpPr>
            <a:spLocks noGrp="1"/>
          </p:cNvSpPr>
          <p:nvPr/>
        </p:nvSpPr>
        <p:spPr>
          <a:xfrm>
            <a:off x="914400" y="2700000"/>
            <a:ext cx="94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5200" b="1" dirty="0">
                <a:solidFill>
                  <a:srgbClr val="1C2B2A"/>
                </a:solidFill>
                <a:latin typeface="Arial"/>
                <a:ea typeface="Arial"/>
                <a:cs typeface="Arial"/>
              </a:rPr>
              <a:t>Gracias por su atención</a:t>
            </a:r>
            <a:endParaRPr lang="es-CL" sz="1800"/>
          </a:p>
        </p:txBody>
      </p:sp>
      <p:sp>
        <p:nvSpPr>
          <p:cNvPr id="245" name="Cierre-sub"/>
          <p:cNvSpPr>
            <a:spLocks noGrp="1"/>
          </p:cNvSpPr>
          <p:nvPr/>
        </p:nvSpPr>
        <p:spPr>
          <a:xfrm>
            <a:off x="914400" y="3850000"/>
            <a:ext cx="9000000" cy="5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20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Se reciben preguntas y retroalimentación del comité</a:t>
            </a:r>
            <a:endParaRPr lang="es-CL" sz="1800"/>
          </a:p>
        </p:txBody>
      </p:sp>
      <p:sp>
        <p:nvSpPr>
          <p:cNvPr id="246" name="Btn"/>
          <p:cNvSpPr/>
          <p:nvPr/>
        </p:nvSpPr>
        <p:spPr>
          <a:xfrm>
            <a:off x="914400" y="4700000"/>
            <a:ext cx="2800000" cy="8000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</p:spPr>
        <p:txBody>
          <a:bodyPr wrap="none" lIns="0" tIns="0" rIns="0" bIns="0"/>
          <a:lstStyle/>
          <a:p/>
        </p:txBody>
      </p:sp>
      <p:sp>
        <p:nvSpPr>
          <p:cNvPr id="247" name="Btn-t"/>
          <p:cNvSpPr>
            <a:spLocks noGrp="1"/>
          </p:cNvSpPr>
          <p:nvPr/>
        </p:nvSpPr>
        <p:spPr>
          <a:xfrm>
            <a:off x="914400" y="4700000"/>
            <a:ext cx="2800000" cy="8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Abrir debate →</a:t>
            </a:r>
            <a:endParaRPr lang="es-CL" sz="1800"/>
          </a:p>
        </p:txBody>
      </p:sp>
      <p:sp>
        <p:nvSpPr>
          <p:cNvPr id="248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5B6B6A"/>
                </a:solidFill>
                <a:latin typeface="Arial"/>
                <a:ea typeface="Arial"/>
                <a:cs typeface="Arial"/>
              </a:rPr>
              <a:t>Templa · Seminario  |  8</a:t>
            </a:r>
            <a:endParaRPr lang="es-CL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">
  <a:themeElements>
    <a:clrScheme name="Templa">
      <a:dk1>
        <a:srgbClr val="22222F"/>
      </a:dk1>
      <a:lt1>
        <a:srgbClr val="FFFFFF"/>
      </a:lt1>
      <a:dk2>
        <a:srgbClr val="44546A"/>
      </a:dk2>
      <a:lt2>
        <a:srgbClr val="E7E6E6"/>
      </a:lt2>
      <a:accent1>
        <a:srgbClr val="0F766E"/>
      </a:accent1>
      <a:accent2>
        <a:srgbClr val="2DD4BF"/>
      </a:accent2>
      <a:accent3>
        <a:srgbClr val="F59E0B"/>
      </a:accent3>
      <a:accent4>
        <a:srgbClr val="10B981"/>
      </a:accent4>
      <a:accent5>
        <a:srgbClr val="3B82F6"/>
      </a:accent5>
      <a:accent6>
        <a:srgbClr val="E11D48"/>
      </a:accent6>
      <a:hlink>
        <a:srgbClr val="0563C1"/>
      </a:hlink>
      <a:folHlink>
        <a:srgbClr val="954F72"/>
      </a:folHlink>
    </a:clrScheme>
    <a:fontScheme name="Templa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Templ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20000"/>
              </a:schemeClr>
            </a:gs>
          </a:gsLst>
          <a:lin ang="162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shade val="20000"/>
              </a:schemeClr>
            </a:gs>
            <a:gs pos="100000">
              <a:schemeClr val="phClr">
                <a:tint val="80000"/>
              </a:schemeClr>
            </a:gs>
          </a:gsLst>
          <a:path path="rect">
            <a:fillToRect l="50000" t="0" r="5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Templa Office Builder</Application>
  <PresentationFormat>Widescreen</PresentationFormat>
  <Slides>8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Seminario · undefined</dc:title>
  <dc:creator>Templa</dc:creator>
  <cp:lastModifiedBy>Templa</cp:lastModifiedBy>
  <dcterms:created xsi:type="dcterms:W3CDTF">2026-01-01T00:00:00Z</dcterms:created>
  <dcterms:modified xsi:type="dcterms:W3CDTF">2026-01-01T00:00:00Z</dcterms:modified>
</cp:coreProperties>
</file>