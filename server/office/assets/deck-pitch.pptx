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presentationml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/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  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marL="0" indent="0" defTabSz="914400">
        <a:lnSpc>
          <a:spcPct val="110000"/>
        </a:lnSpc>
        <a:spcBef>
          <a:spcPts val="0"/>
        </a:spcBef>
        <a:spcAft>
          <a:spcPts val="0"/>
        </a:spcAft>
        <a:buNone/>
        <a:defRPr sz="4000" b="1" dirty="0">
          <a:solidFill>
            <a:srgbClr val="22222F"/>
          </a:solidFill>
          <a:latin typeface="Arial"/>
        </a:defRPr>
      </a:lvl1pPr>
    </p:titleStyle>
    <p:bodyStyle>
      <a:lvl1pPr marL="342900" indent="-342900" defTabSz="914400">
        <a:lnSpc>
          <a:spcPct val="115000"/>
        </a:lnSpc>
        <a:spcBef>
          <a:spcPts val="600"/>
        </a:spcBef>
        <a:spcAft>
          <a:spcPts val="600"/>
        </a:spcAft>
        <a:buFont typeface="Arial"/>
        <a:buChar char="•"/>
        <a:defRPr sz="1800" dirty="0">
          <a:solidFill>
            <a:srgbClr val="22222F"/>
          </a:solidFill>
          <a:latin typeface="Arial"/>
        </a:defRPr>
      </a:lvl1pPr>
    </p:bodyStyle>
    <p:otherStyle>
      <a:defPPr/>
      <a:lvl1pPr/>
      <a:lvl2pPr/>
      <a:lvl3pPr/>
      <a:lvl4pPr/>
      <a:lvl5pPr/>
      <a:lvl6pPr/>
      <a:lvl7pPr/>
      <a:lvl8pPr/>
      <a:lvl9pPr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3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0B1023"/>
          </a:solidFill>
        </p:spPr>
        <p:txBody>
          <a:bodyPr wrap="none" lIns="0" tIns="0" rIns="0" bIns="0"/>
          <a:lstStyle/>
          <a:p/>
        </p:txBody>
      </p:sp>
      <p:sp>
        <p:nvSpPr>
          <p:cNvPr id="64" name="Bloque marca"/>
          <p:cNvSpPr/>
          <p:nvPr/>
        </p:nvSpPr>
        <p:spPr>
          <a:xfrm>
            <a:off x="0" y="0"/>
            <a:ext cx="182880" cy="6858000"/>
          </a:xfrm>
          <a:prstGeom prst="rect"/>
          <a:solidFill>
            <a:srgbClr val="6366F1"/>
          </a:solidFill>
        </p:spPr>
        <p:txBody>
          <a:bodyPr wrap="none" lIns="0" tIns="0" rIns="0" bIns="0"/>
          <a:lstStyle/>
          <a:p/>
        </p:txBody>
      </p:sp>
      <p:sp>
        <p:nvSpPr>
          <p:cNvPr id="65" name="Ficha"/>
          <p:cNvSpPr/>
          <p:nvPr/>
        </p:nvSpPr>
        <p:spPr>
          <a:xfrm>
            <a:off x="9472000" y="1260000"/>
            <a:ext cx="2600000" cy="4300000"/>
          </a:xfrm>
          <a:prstGeom prst="rect"/>
          <a:solidFill>
            <a:srgbClr val="818CF8">
              <a:alpha val="12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66" name="Ficha"/>
          <p:cNvSpPr/>
          <p:nvPr/>
        </p:nvSpPr>
        <p:spPr>
          <a:xfrm>
            <a:off x="7032000" y="2300000"/>
            <a:ext cx="5000000" cy="2600000"/>
          </a:xfrm>
          <a:prstGeom prst="rect"/>
          <a:solidFill>
            <a:srgbClr val="6366F1">
              <a:alpha val="9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67" name="Kicker-portada"/>
          <p:cNvSpPr>
            <a:spLocks noGrp="1"/>
          </p:cNvSpPr>
          <p:nvPr/>
        </p:nvSpPr>
        <p:spPr>
          <a:xfrm>
            <a:off x="914400" y="2250000"/>
            <a:ext cx="9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300" b="1" dirty="0">
                <a:solidFill>
                  <a:srgbClr val="6366F1"/>
                </a:solidFill>
                <a:latin typeface="Arial"/>
                <a:ea typeface="Arial"/>
                <a:cs typeface="Arial"/>
              </a:rPr>
              <a:t>PITCH DECK · STARTUP</a:t>
            </a:r>
            <a:endParaRPr lang="es-CL" sz="1800"/>
          </a:p>
        </p:txBody>
      </p:sp>
      <p:sp>
        <p:nvSpPr>
          <p:cNvPr id="68" name="Titulo-portada"/>
          <p:cNvSpPr>
            <a:spLocks noGrp="1"/>
          </p:cNvSpPr>
          <p:nvPr/>
        </p:nvSpPr>
        <p:spPr>
          <a:xfrm>
            <a:off x="914400" y="2750000"/>
            <a:ext cx="9400000" cy="13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5200" b="1" dirty="0">
                <a:solidFill>
                  <a:srgbClr val="F5F6FF"/>
                </a:solidFill>
                <a:latin typeface="Arial"/>
                <a:ea typeface="Arial"/>
                <a:cs typeface="Arial"/>
              </a:rPr>
              <a:t>De la idea a la inversión</a:t>
            </a:r>
            <a:endParaRPr lang="es-CL" sz="1800"/>
          </a:p>
        </p:txBody>
      </p:sp>
      <p:sp>
        <p:nvSpPr>
          <p:cNvPr id="69" name="Sub-portada"/>
          <p:cNvSpPr>
            <a:spLocks noGrp="1"/>
          </p:cNvSpPr>
          <p:nvPr/>
        </p:nvSpPr>
        <p:spPr>
          <a:xfrm>
            <a:off x="914400" y="4200000"/>
            <a:ext cx="9000000" cy="6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2100" b="0" dirty="0">
                <a:solidFill>
                  <a:srgbClr val="A8AFC9"/>
                </a:solidFill>
                <a:latin typeface="Arial"/>
                <a:ea typeface="Arial"/>
                <a:cs typeface="Arial"/>
              </a:rPr>
              <a:t>11 diapositivas que convencen a inversores en menos de 5 minutos</a:t>
            </a:r>
            <a:endParaRPr lang="es-CL" sz="1800"/>
          </a:p>
        </p:txBody>
      </p:sp>
      <p:sp>
        <p:nvSpPr>
          <p:cNvPr id="70" name="Autor"/>
          <p:cNvSpPr>
            <a:spLocks noGrp="1"/>
          </p:cNvSpPr>
          <p:nvPr/>
        </p:nvSpPr>
        <p:spPr>
          <a:xfrm>
            <a:off x="914400" y="5450000"/>
            <a:ext cx="8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400" b="0" dirty="0">
                <a:solidFill>
                  <a:srgbClr val="A8AFC9"/>
                </a:solidFill>
                <a:latin typeface="Arial"/>
                <a:ea typeface="Arial"/>
                <a:cs typeface="Arial"/>
              </a:rPr>
              <a:t>Presentado por __tu_nombre__</a:t>
            </a:r>
            <a:endParaRPr lang="es-CL" sz="1800"/>
          </a:p>
        </p:txBody>
      </p:sp>
      <p:sp>
        <p:nvSpPr>
          <p:cNvPr id="71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A8AFC9"/>
                </a:solidFill>
                <a:latin typeface="Arial"/>
                <a:ea typeface="Arial"/>
                <a:cs typeface="Arial"/>
              </a:rPr>
              <a:t>Templa · Pitch Grid  |  1</a:t>
            </a:r>
            <a:endParaRPr lang="es-CL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3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0B1023"/>
          </a:solidFill>
        </p:spPr>
        <p:txBody>
          <a:bodyPr wrap="none" lIns="0" tIns="0" rIns="0" bIns="0"/>
          <a:lstStyle/>
          <a:p/>
        </p:txBody>
      </p:sp>
      <p:sp>
        <p:nvSpPr>
          <p:cNvPr id="72" name="Kicker"/>
          <p:cNvSpPr/>
          <p:nvPr/>
        </p:nvSpPr>
        <p:spPr>
          <a:xfrm>
            <a:off x="914400" y="1234400"/>
            <a:ext cx="139700" cy="13970"/>
          </a:xfrm>
          <a:prstGeom prst="rect"/>
          <a:solidFill>
            <a:srgbClr val="6366F1"/>
          </a:solidFill>
        </p:spPr>
        <p:txBody>
          <a:bodyPr wrap="none" lIns="0" tIns="0" rIns="0" bIns="0"/>
          <a:lstStyle/>
          <a:p/>
        </p:txBody>
      </p:sp>
      <p:sp>
        <p:nvSpPr>
          <p:cNvPr id="73" name="Kicker-t"/>
          <p:cNvSpPr>
            <a:spLocks noGrp="1"/>
          </p:cNvSpPr>
          <p:nvPr/>
        </p:nvSpPr>
        <p:spPr>
          <a:xfrm>
            <a:off x="1143000" y="914400"/>
            <a:ext cx="5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200" b="1" dirty="0">
                <a:solidFill>
                  <a:srgbClr val="6366F1"/>
                </a:solidFill>
                <a:latin typeface="Arial"/>
                <a:ea typeface="Arial"/>
                <a:cs typeface="Arial"/>
              </a:rPr>
              <a:t>AGENDA</a:t>
            </a:r>
            <a:endParaRPr lang="es-CL" sz="1800"/>
          </a:p>
        </p:txBody>
      </p:sp>
      <p:sp>
        <p:nvSpPr>
          <p:cNvPr id="74" name="Titulo"/>
          <p:cNvSpPr>
            <a:spLocks noGrp="1"/>
          </p:cNvSpPr>
          <p:nvPr/>
        </p:nvSpPr>
        <p:spPr>
          <a:xfrm>
            <a:off x="914400" y="1400000"/>
            <a:ext cx="10000000" cy="10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400" b="1" dirty="0">
                <a:solidFill>
                  <a:srgbClr val="F5F6FF"/>
                </a:solidFill>
                <a:latin typeface="Arial"/>
                <a:ea typeface="Arial"/>
                <a:cs typeface="Arial"/>
              </a:rPr>
              <a:t>Temas a cubrir</a:t>
            </a:r>
            <a:endParaRPr lang="es-CL" sz="1800"/>
          </a:p>
        </p:txBody>
      </p:sp>
      <p:sp>
        <p:nvSpPr>
          <p:cNvPr id="75" name="Agenda-wrap"/>
          <p:cNvSpPr>
            <a:spLocks noGrp="1"/>
          </p:cNvSpPr>
          <p:nvPr/>
        </p:nvSpPr>
        <p:spPr>
          <a:xfrm>
            <a:off x="914400" y="2800000"/>
            <a:ext cx="10400000" cy="24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spcAft>
                <a:spcPts val="1600"/>
              </a:spcAft>
              <a:buNone/>
            </a:pPr>
            <a:r>
              <a:rPr lang="es-CL" altLang="en-US" sz="2000" b="1" dirty="0">
                <a:solidFill>
                  <a:srgbClr val="6366F1"/>
                </a:solidFill>
                <a:latin typeface="Arial"/>
                <a:ea typeface="Arial"/>
                <a:cs typeface="Arial"/>
              </a:rPr>
              <a:t>01  </a:t>
            </a:r>
            <a:r>
              <a:rPr lang="es-CL" altLang="en-US" sz="2000" b="0" dirty="0">
                <a:solidFill>
                  <a:srgbClr val="F5F6FF"/>
                </a:solidFill>
                <a:latin typeface="Arial"/>
                <a:ea typeface="Arial"/>
                <a:cs typeface="Arial"/>
              </a:rPr>
              <a:t>Problema</a:t>
            </a:r>
            <a:endParaRPr lang="es-CL" sz="1800"/>
          </a:p>
          <a:p>
            <a:pPr marL="0" indent="0" lvl="0">
              <a:spcAft>
                <a:spcPts val="1600"/>
              </a:spcAft>
              <a:buNone/>
            </a:pPr>
            <a:r>
              <a:rPr lang="es-CL" altLang="en-US" sz="2000" b="1" dirty="0">
                <a:solidFill>
                  <a:srgbClr val="6366F1"/>
                </a:solidFill>
                <a:latin typeface="Arial"/>
                <a:ea typeface="Arial"/>
                <a:cs typeface="Arial"/>
              </a:rPr>
              <a:t>02  </a:t>
            </a:r>
            <a:r>
              <a:rPr lang="es-CL" altLang="en-US" sz="2000" b="0" dirty="0">
                <a:solidFill>
                  <a:srgbClr val="F5F6FF"/>
                </a:solidFill>
                <a:latin typeface="Arial"/>
                <a:ea typeface="Arial"/>
                <a:cs typeface="Arial"/>
              </a:rPr>
              <a:t>Solución</a:t>
            </a:r>
            <a:endParaRPr lang="es-CL" sz="1800"/>
          </a:p>
          <a:p>
            <a:pPr marL="0" indent="0" lvl="0">
              <a:spcAft>
                <a:spcPts val="1600"/>
              </a:spcAft>
              <a:buNone/>
            </a:pPr>
            <a:r>
              <a:rPr lang="es-CL" altLang="en-US" sz="2000" b="1" dirty="0">
                <a:solidFill>
                  <a:srgbClr val="6366F1"/>
                </a:solidFill>
                <a:latin typeface="Arial"/>
                <a:ea typeface="Arial"/>
                <a:cs typeface="Arial"/>
              </a:rPr>
              <a:t>03  </a:t>
            </a:r>
            <a:r>
              <a:rPr lang="es-CL" altLang="en-US" sz="2000" b="0" dirty="0">
                <a:solidFill>
                  <a:srgbClr val="F5F6FF"/>
                </a:solidFill>
                <a:latin typeface="Arial"/>
                <a:ea typeface="Arial"/>
                <a:cs typeface="Arial"/>
              </a:rPr>
              <a:t>Mercado</a:t>
            </a:r>
            <a:endParaRPr lang="es-CL" sz="1800"/>
          </a:p>
          <a:p>
            <a:pPr marL="0" indent="0" lvl="0">
              <a:spcAft>
                <a:spcPts val="1600"/>
              </a:spcAft>
              <a:buNone/>
            </a:pPr>
            <a:r>
              <a:rPr lang="es-CL" altLang="en-US" sz="2000" b="1" dirty="0">
                <a:solidFill>
                  <a:srgbClr val="6366F1"/>
                </a:solidFill>
                <a:latin typeface="Arial"/>
                <a:ea typeface="Arial"/>
                <a:cs typeface="Arial"/>
              </a:rPr>
              <a:t>04  </a:t>
            </a:r>
            <a:r>
              <a:rPr lang="es-CL" altLang="en-US" sz="2000" b="0" dirty="0">
                <a:solidFill>
                  <a:srgbClr val="F5F6FF"/>
                </a:solidFill>
                <a:latin typeface="Arial"/>
                <a:ea typeface="Arial"/>
                <a:cs typeface="Arial"/>
              </a:rPr>
              <a:t>Modelo de negocio</a:t>
            </a:r>
            <a:endParaRPr lang="es-CL" sz="1800"/>
          </a:p>
          <a:p>
            <a:pPr marL="0" indent="0" lvl="0">
              <a:spcAft>
                <a:spcPts val="1600"/>
              </a:spcAft>
              <a:buNone/>
            </a:pPr>
            <a:r>
              <a:rPr lang="es-CL" altLang="en-US" sz="2000" b="1" dirty="0">
                <a:solidFill>
                  <a:srgbClr val="6366F1"/>
                </a:solidFill>
                <a:latin typeface="Arial"/>
                <a:ea typeface="Arial"/>
                <a:cs typeface="Arial"/>
              </a:rPr>
              <a:t>05  </a:t>
            </a:r>
            <a:r>
              <a:rPr lang="es-CL" altLang="en-US" sz="2000" b="0" dirty="0">
                <a:solidFill>
                  <a:srgbClr val="F5F6FF"/>
                </a:solidFill>
                <a:latin typeface="Arial"/>
                <a:ea typeface="Arial"/>
                <a:cs typeface="Arial"/>
              </a:rPr>
              <a:t>Equipo</a:t>
            </a:r>
            <a:endParaRPr lang="es-CL" sz="1800"/>
          </a:p>
        </p:txBody>
      </p:sp>
      <p:sp>
        <p:nvSpPr>
          <p:cNvPr id="76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A8AFC9"/>
                </a:solidFill>
                <a:latin typeface="Arial"/>
                <a:ea typeface="Arial"/>
                <a:cs typeface="Arial"/>
              </a:rPr>
              <a:t>Templa · Pitch Grid  |  2</a:t>
            </a:r>
            <a:endParaRPr lang="es-CL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3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0B1023"/>
          </a:solidFill>
        </p:spPr>
        <p:txBody>
          <a:bodyPr wrap="none" lIns="0" tIns="0" rIns="0" bIns="0"/>
          <a:lstStyle/>
          <a:p/>
        </p:txBody>
      </p:sp>
      <p:sp>
        <p:nvSpPr>
          <p:cNvPr id="77" name="Barra divisor"/>
          <p:cNvSpPr/>
          <p:nvPr/>
        </p:nvSpPr>
        <p:spPr>
          <a:xfrm>
            <a:off x="0" y="5334000"/>
            <a:ext cx="12192000" cy="1524000"/>
          </a:xfrm>
          <a:prstGeom prst="rect"/>
          <a:solidFill>
            <a:srgbClr val="F5F6FF"/>
          </a:solidFill>
        </p:spPr>
        <p:txBody>
          <a:bodyPr wrap="none" lIns="0" tIns="0" rIns="0" bIns="0"/>
          <a:lstStyle/>
          <a:p/>
        </p:txBody>
      </p:sp>
      <p:sp>
        <p:nvSpPr>
          <p:cNvPr id="78" name="Bloque marca"/>
          <p:cNvSpPr/>
          <p:nvPr/>
        </p:nvSpPr>
        <p:spPr>
          <a:xfrm>
            <a:off x="0" y="0"/>
            <a:ext cx="182880" cy="6858000"/>
          </a:xfrm>
          <a:prstGeom prst="rect"/>
          <a:solidFill>
            <a:srgbClr val="6366F1"/>
          </a:solidFill>
        </p:spPr>
        <p:txBody>
          <a:bodyPr wrap="none" lIns="0" tIns="0" rIns="0" bIns="0"/>
          <a:lstStyle/>
          <a:p/>
        </p:txBody>
      </p:sp>
      <p:sp>
        <p:nvSpPr>
          <p:cNvPr id="79" name="Num-seccion"/>
          <p:cNvSpPr>
            <a:spLocks noGrp="1"/>
          </p:cNvSpPr>
          <p:nvPr/>
        </p:nvSpPr>
        <p:spPr>
          <a:xfrm>
            <a:off x="914400" y="1800000"/>
            <a:ext cx="4600000" cy="2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9000" b="1" dirty="0">
                <a:solidFill>
                  <a:srgbClr val="6366F1"/>
                </a:solidFill>
                <a:latin typeface="Arial"/>
                <a:ea typeface="Arial"/>
                <a:cs typeface="Arial"/>
              </a:rPr>
              <a:t>01</a:t>
            </a:r>
            <a:endParaRPr lang="es-CL" sz="1800"/>
          </a:p>
        </p:txBody>
      </p:sp>
      <p:sp>
        <p:nvSpPr>
          <p:cNvPr id="80" name="Tit-seccion"/>
          <p:cNvSpPr>
            <a:spLocks noGrp="1"/>
          </p:cNvSpPr>
          <p:nvPr/>
        </p:nvSpPr>
        <p:spPr>
          <a:xfrm>
            <a:off x="1314400" y="4200000"/>
            <a:ext cx="9000000" cy="11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400" b="1" dirty="0">
                <a:solidFill>
                  <a:srgbClr val="F5F6FF"/>
                </a:solidFill>
                <a:latin typeface="Arial"/>
                <a:ea typeface="Arial"/>
                <a:cs typeface="Arial"/>
              </a:rPr>
              <a:t>El problema</a:t>
            </a:r>
            <a:endParaRPr lang="es-CL" sz="1800"/>
          </a:p>
        </p:txBody>
      </p:sp>
      <p:sp>
        <p:nvSpPr>
          <p:cNvPr id="81" name="Sub-seccion"/>
          <p:cNvSpPr>
            <a:spLocks noGrp="1"/>
          </p:cNvSpPr>
          <p:nvPr/>
        </p:nvSpPr>
        <p:spPr>
          <a:xfrm>
            <a:off x="1314400" y="5350000"/>
            <a:ext cx="8000000" cy="5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800" b="0" dirty="0">
                <a:solidFill>
                  <a:srgbClr val="A8AFC9"/>
                </a:solidFill>
                <a:latin typeface="Arial"/>
                <a:ea typeface="Arial"/>
                <a:cs typeface="Arial"/>
              </a:rPr>
              <a:t>Qué duele hoy y por qué importa</a:t>
            </a:r>
            <a:endParaRPr lang="es-CL" sz="1800"/>
          </a:p>
        </p:txBody>
      </p:sp>
      <p:sp>
        <p:nvSpPr>
          <p:cNvPr id="82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A8AFC9"/>
                </a:solidFill>
                <a:latin typeface="Arial"/>
                <a:ea typeface="Arial"/>
                <a:cs typeface="Arial"/>
              </a:rPr>
              <a:t>Templa · Pitch Grid  |  3</a:t>
            </a:r>
            <a:endParaRPr lang="es-CL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3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0B1023"/>
          </a:solidFill>
        </p:spPr>
        <p:txBody>
          <a:bodyPr wrap="none" lIns="0" tIns="0" rIns="0" bIns="0"/>
          <a:lstStyle/>
          <a:p/>
        </p:txBody>
      </p:sp>
      <p:sp>
        <p:nvSpPr>
          <p:cNvPr id="83" name="Kicker"/>
          <p:cNvSpPr/>
          <p:nvPr/>
        </p:nvSpPr>
        <p:spPr>
          <a:xfrm>
            <a:off x="914400" y="1234400"/>
            <a:ext cx="139700" cy="13970"/>
          </a:xfrm>
          <a:prstGeom prst="rect"/>
          <a:solidFill>
            <a:srgbClr val="6366F1"/>
          </a:solidFill>
        </p:spPr>
        <p:txBody>
          <a:bodyPr wrap="none" lIns="0" tIns="0" rIns="0" bIns="0"/>
          <a:lstStyle/>
          <a:p/>
        </p:txBody>
      </p:sp>
      <p:sp>
        <p:nvSpPr>
          <p:cNvPr id="84" name="Kicker-t"/>
          <p:cNvSpPr>
            <a:spLocks noGrp="1"/>
          </p:cNvSpPr>
          <p:nvPr/>
        </p:nvSpPr>
        <p:spPr>
          <a:xfrm>
            <a:off x="1143000" y="914400"/>
            <a:ext cx="5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200" b="1" dirty="0">
                <a:solidFill>
                  <a:srgbClr val="6366F1"/>
                </a:solidFill>
                <a:latin typeface="Arial"/>
                <a:ea typeface="Arial"/>
                <a:cs typeface="Arial"/>
              </a:rPr>
              <a:t>SOLUCIÓN</a:t>
            </a:r>
            <a:endParaRPr lang="es-CL" sz="1800"/>
          </a:p>
        </p:txBody>
      </p:sp>
      <p:sp>
        <p:nvSpPr>
          <p:cNvPr id="85" name="Titulo"/>
          <p:cNvSpPr>
            <a:spLocks noGrp="1"/>
          </p:cNvSpPr>
          <p:nvPr/>
        </p:nvSpPr>
        <p:spPr>
          <a:xfrm>
            <a:off x="914400" y="1400000"/>
            <a:ext cx="10000000" cy="10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400" b="1" dirty="0">
                <a:solidFill>
                  <a:srgbClr val="F5F6FF"/>
                </a:solidFill>
                <a:latin typeface="Arial"/>
                <a:ea typeface="Arial"/>
                <a:cs typeface="Arial"/>
              </a:rPr>
              <a:t>Lo que construimos</a:t>
            </a:r>
            <a:endParaRPr lang="es-CL" sz="1800"/>
          </a:p>
        </p:txBody>
      </p:sp>
      <p:sp>
        <p:nvSpPr>
          <p:cNvPr id="86" name="Tarjeta"/>
          <p:cNvSpPr/>
          <p:nvPr/>
        </p:nvSpPr>
        <p:spPr>
          <a:xfrm>
            <a:off x="914400" y="2900000"/>
            <a:ext cx="10400000" cy="2900000"/>
          </a:xfrm>
          <a:prstGeom prst="roundRect">
            <a:avLst>
              <a:gd name="adj" fmla="val 4000"/>
            </a:avLst>
          </a:prstGeom>
          <a:solidFill>
            <a:srgbClr val="6366F1">
              <a:alpha val="6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87" name="Bullets"/>
          <p:cNvSpPr>
            <a:spLocks noGrp="1"/>
          </p:cNvSpPr>
          <p:nvPr/>
        </p:nvSpPr>
        <p:spPr>
          <a:xfrm>
            <a:off x="2014400" y="3150000"/>
            <a:ext cx="8800000" cy="25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-342900" lvl="0">
              <a:spcBef>
                <a:spcPts val="1000"/>
              </a:spcBef>
              <a:spcAft>
                <a:spcPts val="1000"/>
              </a:spcAft>
              <a:buFont typeface="Arial"/>
              <a:buChar char="•"/>
            </a:pPr>
            <a:r>
              <a:rPr lang="es-CL" altLang="en-US" sz="1900" b="0" dirty="0">
                <a:solidFill>
                  <a:srgbClr val="F5F6FF"/>
                </a:solidFill>
                <a:latin typeface="Arial"/>
                <a:ea typeface="Arial"/>
                <a:cs typeface="Arial"/>
              </a:rPr>
              <a:t>El problema afirmado en una sola línea memorable</a:t>
            </a:r>
            <a:endParaRPr lang="es-CL" sz="1800"/>
          </a:p>
          <a:p>
            <a:pPr marL="0" indent="-342900" lvl="0">
              <a:spcBef>
                <a:spcPts val="1000"/>
              </a:spcBef>
              <a:spcAft>
                <a:spcPts val="1000"/>
              </a:spcAft>
              <a:buFont typeface="Arial"/>
              <a:buChar char="•"/>
            </a:pPr>
            <a:r>
              <a:rPr lang="es-CL" altLang="en-US" sz="1900" b="0" dirty="0">
                <a:solidFill>
                  <a:srgbClr val="F5F6FF"/>
                </a:solidFill>
                <a:latin typeface="Arial"/>
                <a:ea typeface="Arial"/>
                <a:cs typeface="Arial"/>
              </a:rPr>
              <a:t>La solución explicada con una demo concreta</a:t>
            </a:r>
            <a:endParaRPr lang="es-CL" sz="1800"/>
          </a:p>
          <a:p>
            <a:pPr marL="0" indent="-342900" lvl="0">
              <a:spcBef>
                <a:spcPts val="1000"/>
              </a:spcBef>
              <a:spcAft>
                <a:spcPts val="1000"/>
              </a:spcAft>
              <a:buFont typeface="Arial"/>
              <a:buChar char="•"/>
            </a:pPr>
            <a:r>
              <a:rPr lang="es-CL" altLang="en-US" sz="1900" b="0" dirty="0">
                <a:solidFill>
                  <a:srgbClr val="F5F6FF"/>
                </a:solidFill>
                <a:latin typeface="Arial"/>
                <a:ea typeface="Arial"/>
                <a:cs typeface="Arial"/>
              </a:rPr>
              <a:t>TAM / SAM / SOM para dimensionar la oportunidad</a:t>
            </a:r>
            <a:endParaRPr lang="es-CL" sz="1800"/>
          </a:p>
          <a:p>
            <a:pPr marL="0" indent="-342900" lvl="0">
              <a:spcBef>
                <a:spcPts val="1000"/>
              </a:spcBef>
              <a:spcAft>
                <a:spcPts val="1000"/>
              </a:spcAft>
              <a:buFont typeface="Arial"/>
              <a:buChar char="•"/>
            </a:pPr>
            <a:r>
              <a:rPr lang="es-CL" altLang="en-US" sz="1900" b="0" dirty="0">
                <a:solidFill>
                  <a:srgbClr val="F5F6FF"/>
                </a:solidFill>
                <a:latin typeface="Arial"/>
                <a:ea typeface="Arial"/>
                <a:cs typeface="Arial"/>
              </a:rPr>
              <a:t>Métricas traccionables desde el mes uno</a:t>
            </a:r>
            <a:endParaRPr lang="es-CL" sz="1800"/>
          </a:p>
        </p:txBody>
      </p:sp>
      <p:sp>
        <p:nvSpPr>
          <p:cNvPr id="88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A8AFC9"/>
                </a:solidFill>
                <a:latin typeface="Arial"/>
                <a:ea typeface="Arial"/>
                <a:cs typeface="Arial"/>
              </a:rPr>
              <a:t>Templa · Pitch Grid  |  4</a:t>
            </a:r>
            <a:endParaRPr lang="es-CL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3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0B1023"/>
          </a:solidFill>
        </p:spPr>
        <p:txBody>
          <a:bodyPr wrap="none" lIns="0" tIns="0" rIns="0" bIns="0"/>
          <a:lstStyle/>
          <a:p/>
        </p:txBody>
      </p:sp>
      <p:sp>
        <p:nvSpPr>
          <p:cNvPr id="89" name="Kicker"/>
          <p:cNvSpPr/>
          <p:nvPr/>
        </p:nvSpPr>
        <p:spPr>
          <a:xfrm>
            <a:off x="914400" y="1234400"/>
            <a:ext cx="139700" cy="13970"/>
          </a:xfrm>
          <a:prstGeom prst="rect"/>
          <a:solidFill>
            <a:srgbClr val="6366F1"/>
          </a:solidFill>
        </p:spPr>
        <p:txBody>
          <a:bodyPr wrap="none" lIns="0" tIns="0" rIns="0" bIns="0"/>
          <a:lstStyle/>
          <a:p/>
        </p:txBody>
      </p:sp>
      <p:sp>
        <p:nvSpPr>
          <p:cNvPr id="90" name="Kicker-t"/>
          <p:cNvSpPr>
            <a:spLocks noGrp="1"/>
          </p:cNvSpPr>
          <p:nvPr/>
        </p:nvSpPr>
        <p:spPr>
          <a:xfrm>
            <a:off x="1143000" y="914400"/>
            <a:ext cx="5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200" b="1" dirty="0">
                <a:solidFill>
                  <a:srgbClr val="6366F1"/>
                </a:solidFill>
                <a:latin typeface="Arial"/>
                <a:ea typeface="Arial"/>
                <a:cs typeface="Arial"/>
              </a:rPr>
              <a:t>MERCADO</a:t>
            </a:r>
            <a:endParaRPr lang="es-CL" sz="1800"/>
          </a:p>
        </p:txBody>
      </p:sp>
      <p:sp>
        <p:nvSpPr>
          <p:cNvPr id="91" name="Titulo"/>
          <p:cNvSpPr>
            <a:spLocks noGrp="1"/>
          </p:cNvSpPr>
          <p:nvPr/>
        </p:nvSpPr>
        <p:spPr>
          <a:xfrm>
            <a:off x="914400" y="1400000"/>
            <a:ext cx="10000000" cy="10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3600" b="1" dirty="0">
                <a:solidFill>
                  <a:srgbClr val="F5F6FF"/>
                </a:solidFill>
                <a:latin typeface="Arial"/>
                <a:ea typeface="Arial"/>
                <a:cs typeface="Arial"/>
              </a:rPr>
              <a:t>Oportunidad</a:t>
            </a:r>
            <a:endParaRPr lang="es-CL" sz="1800"/>
          </a:p>
        </p:txBody>
      </p:sp>
      <p:sp>
        <p:nvSpPr>
          <p:cNvPr id="92" name="Col A"/>
          <p:cNvSpPr/>
          <p:nvPr/>
        </p:nvSpPr>
        <p:spPr>
          <a:xfrm>
            <a:off x="914400" y="3000000"/>
            <a:ext cx="4950000" cy="2500000"/>
          </a:xfrm>
          <a:prstGeom prst="roundRect">
            <a:avLst>
              <a:gd name="adj" fmla="val 6000"/>
            </a:avLst>
          </a:prstGeom>
          <a:solidFill>
            <a:srgbClr val="6366F1">
              <a:alpha val="5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93" name="Col B"/>
          <p:cNvSpPr/>
          <p:nvPr/>
        </p:nvSpPr>
        <p:spPr>
          <a:xfrm>
            <a:off x="6364400" y="3000000"/>
            <a:ext cx="4950000" cy="2500000"/>
          </a:xfrm>
          <a:prstGeom prst="roundRect">
            <a:avLst>
              <a:gd name="adj" fmla="val 6000"/>
            </a:avLst>
          </a:prstGeom>
          <a:solidFill>
            <a:srgbClr val="818CF8">
              <a:alpha val="5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94" name="Cabeza A"/>
          <p:cNvSpPr>
            <a:spLocks noGrp="1"/>
          </p:cNvSpPr>
          <p:nvPr/>
        </p:nvSpPr>
        <p:spPr>
          <a:xfrm>
            <a:off x="1314400" y="3220000"/>
            <a:ext cx="4200000" cy="500000"/>
          </a:xfrm>
          <a:prstGeom prst="rect"/>
          <a:noFill/>
          <a:ln>
            <a:noFill/>
          </a:ln>
        </p:spPr>
        <p:txBody>
          <a:bodyPr wrap="square" anchor="l" lIns="0" tIns="0" rIns="0" bIns="0"/>
          <a:lstStyle/>
          <a:p>
            <a:pPr marL="0" indent="0" lvl="0">
              <a:buNone/>
            </a:pPr>
            <a:r>
              <a:rPr lang="es-CL" altLang="en-US" sz="2300" b="1" dirty="0">
                <a:solidFill>
                  <a:srgbClr val="F5F6FF"/>
                </a:solidFill>
                <a:latin typeface="Arial"/>
                <a:ea typeface="Arial"/>
                <a:cs typeface="Arial"/>
              </a:rPr>
              <a:t>Sobrecostos</a:t>
            </a:r>
            <a:endParaRPr lang="es-CL" sz="1800"/>
          </a:p>
        </p:txBody>
      </p:sp>
      <p:sp>
        <p:nvSpPr>
          <p:cNvPr id="95" name="Cuerpo A"/>
          <p:cNvSpPr>
            <a:spLocks noGrp="1"/>
          </p:cNvSpPr>
          <p:nvPr/>
        </p:nvSpPr>
        <p:spPr>
          <a:xfrm>
            <a:off x="1314400" y="3750000"/>
            <a:ext cx="4200000" cy="16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spcAft>
                <a:spcPts val="300"/>
              </a:spcAft>
              <a:buNone/>
            </a:pPr>
            <a:r>
              <a:rPr lang="es-CL" altLang="en-US" sz="1600" b="0" dirty="0">
                <a:solidFill>
                  <a:srgbClr val="A8AFC9"/>
                </a:solidFill>
                <a:latin typeface="Arial"/>
                <a:ea typeface="Arial"/>
                <a:cs typeface="Arial"/>
              </a:rPr>
              <a:t>Los clientes pagan por procesos manuales, lentos y sin trazabilidad.</a:t>
            </a:r>
            <a:endParaRPr lang="es-CL" sz="1800"/>
          </a:p>
          <a:p>
            <a:pPr marL="0" indent="0" lvl="0">
              <a:spcBef>
                <a:spcPts val="400"/>
              </a:spcBef>
              <a:buNone/>
            </a:pPr>
            <a:r>
              <a:rPr lang="es-CL" altLang="en-US" sz="1500" b="1" dirty="0">
                <a:solidFill>
                  <a:srgbClr val="6366F1"/>
                </a:solidFill>
                <a:latin typeface="Arial"/>
                <a:ea typeface="Arial"/>
                <a:cs typeface="Arial"/>
              </a:rPr>
              <a:t>→ Sigue</a:t>
            </a:r>
            <a:endParaRPr lang="es-CL" sz="1800"/>
          </a:p>
        </p:txBody>
      </p:sp>
      <p:sp>
        <p:nvSpPr>
          <p:cNvPr id="96" name="Cabeza B"/>
          <p:cNvSpPr>
            <a:spLocks noGrp="1"/>
          </p:cNvSpPr>
          <p:nvPr/>
        </p:nvSpPr>
        <p:spPr>
          <a:xfrm>
            <a:off x="6764400" y="3220000"/>
            <a:ext cx="4200000" cy="500000"/>
          </a:xfrm>
          <a:prstGeom prst="rect"/>
          <a:noFill/>
          <a:ln>
            <a:noFill/>
          </a:ln>
        </p:spPr>
        <p:txBody>
          <a:bodyPr wrap="square" anchor="l" lIns="0" tIns="0" rIns="0" bIns="0"/>
          <a:lstStyle/>
          <a:p>
            <a:pPr marL="0" indent="0" lvl="0">
              <a:buNone/>
            </a:pPr>
            <a:r>
              <a:rPr lang="es-CL" altLang="en-US" sz="2300" b="1" dirty="0">
                <a:solidFill>
                  <a:srgbClr val="F5F6FF"/>
                </a:solidFill>
                <a:latin typeface="Arial"/>
                <a:ea typeface="Arial"/>
                <a:cs typeface="Arial"/>
              </a:rPr>
              <a:t>Automatización</a:t>
            </a:r>
            <a:endParaRPr lang="es-CL" sz="1800"/>
          </a:p>
        </p:txBody>
      </p:sp>
      <p:sp>
        <p:nvSpPr>
          <p:cNvPr id="97" name="Cuerpo B"/>
          <p:cNvSpPr>
            <a:spLocks noGrp="1"/>
          </p:cNvSpPr>
          <p:nvPr/>
        </p:nvSpPr>
        <p:spPr>
          <a:xfrm>
            <a:off x="6764400" y="3750000"/>
            <a:ext cx="4200000" cy="16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spcAft>
                <a:spcPts val="300"/>
              </a:spcAft>
              <a:buNone/>
            </a:pPr>
            <a:r>
              <a:rPr lang="es-CL" altLang="en-US" sz="1600" b="0" dirty="0">
                <a:solidFill>
                  <a:srgbClr val="A8AFC9"/>
                </a:solidFill>
                <a:latin typeface="Arial"/>
                <a:ea typeface="Arial"/>
                <a:cs typeface="Arial"/>
              </a:rPr>
              <a:t>Una plataforma que reduce el tiempo de proceso en más de un 60%.</a:t>
            </a:r>
            <a:endParaRPr lang="es-CL" sz="1800"/>
          </a:p>
          <a:p>
            <a:pPr marL="0" indent="0" lvl="0">
              <a:spcBef>
                <a:spcPts val="400"/>
              </a:spcBef>
              <a:buNone/>
            </a:pPr>
            <a:r>
              <a:rPr lang="es-CL" altLang="en-US" sz="1500" b="1" dirty="0">
                <a:solidFill>
                  <a:srgbClr val="6366F1"/>
                </a:solidFill>
                <a:latin typeface="Arial"/>
                <a:ea typeface="Arial"/>
                <a:cs typeface="Arial"/>
              </a:rPr>
              <a:t>→ Descubre</a:t>
            </a:r>
            <a:endParaRPr lang="es-CL" sz="1800"/>
          </a:p>
        </p:txBody>
      </p:sp>
      <p:sp>
        <p:nvSpPr>
          <p:cNvPr id="98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A8AFC9"/>
                </a:solidFill>
                <a:latin typeface="Arial"/>
                <a:ea typeface="Arial"/>
                <a:cs typeface="Arial"/>
              </a:rPr>
              <a:t>Templa · Pitch Grid  |  5</a:t>
            </a:r>
            <a:endParaRPr lang="es-CL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3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0B1023"/>
          </a:solidFill>
        </p:spPr>
        <p:txBody>
          <a:bodyPr wrap="none" lIns="0" tIns="0" rIns="0" bIns="0"/>
          <a:lstStyle/>
          <a:p/>
        </p:txBody>
      </p:sp>
      <p:sp>
        <p:nvSpPr>
          <p:cNvPr id="99" name="Kicker"/>
          <p:cNvSpPr/>
          <p:nvPr/>
        </p:nvSpPr>
        <p:spPr>
          <a:xfrm>
            <a:off x="914400" y="1234400"/>
            <a:ext cx="139700" cy="13970"/>
          </a:xfrm>
          <a:prstGeom prst="rect"/>
          <a:solidFill>
            <a:srgbClr val="6366F1"/>
          </a:solidFill>
        </p:spPr>
        <p:txBody>
          <a:bodyPr wrap="none" lIns="0" tIns="0" rIns="0" bIns="0"/>
          <a:lstStyle/>
          <a:p/>
        </p:txBody>
      </p:sp>
      <p:sp>
        <p:nvSpPr>
          <p:cNvPr id="100" name="Kicker-t"/>
          <p:cNvSpPr>
            <a:spLocks noGrp="1"/>
          </p:cNvSpPr>
          <p:nvPr/>
        </p:nvSpPr>
        <p:spPr>
          <a:xfrm>
            <a:off x="1143000" y="914400"/>
            <a:ext cx="5000000" cy="4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200" b="1" dirty="0">
                <a:solidFill>
                  <a:srgbClr val="6366F1"/>
                </a:solidFill>
                <a:latin typeface="Arial"/>
                <a:ea typeface="Arial"/>
                <a:cs typeface="Arial"/>
              </a:rPr>
              <a:t>TRACCIÓN</a:t>
            </a:r>
            <a:endParaRPr lang="es-CL" sz="1800"/>
          </a:p>
        </p:txBody>
      </p:sp>
      <p:sp>
        <p:nvSpPr>
          <p:cNvPr id="101" name="Titulo"/>
          <p:cNvSpPr>
            <a:spLocks noGrp="1"/>
          </p:cNvSpPr>
          <p:nvPr/>
        </p:nvSpPr>
        <p:spPr>
          <a:xfrm>
            <a:off x="914400" y="1400000"/>
            <a:ext cx="10000000" cy="10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400" b="1" dirty="0">
                <a:solidFill>
                  <a:srgbClr val="F5F6FF"/>
                </a:solidFill>
                <a:latin typeface="Arial"/>
                <a:ea typeface="Arial"/>
                <a:cs typeface="Arial"/>
              </a:rPr>
              <a:t>Las cifras que importan</a:t>
            </a:r>
            <a:endParaRPr lang="es-CL" sz="1800"/>
          </a:p>
        </p:txBody>
      </p:sp>
      <p:sp>
        <p:nvSpPr>
          <p:cNvPr id="102" name="Stat"/>
          <p:cNvSpPr/>
          <p:nvPr/>
        </p:nvSpPr>
        <p:spPr>
          <a:xfrm>
            <a:off x="914400" y="3100000"/>
            <a:ext cx="2350000" cy="1900000"/>
          </a:xfrm>
          <a:prstGeom prst="roundRect">
            <a:avLst>
              <a:gd name="adj" fmla="val 7000"/>
            </a:avLst>
          </a:prstGeom>
          <a:solidFill>
            <a:srgbClr val="6366F1"/>
          </a:solidFill>
        </p:spPr>
        <p:txBody>
          <a:bodyPr wrap="none" lIns="0" tIns="0" rIns="0" bIns="0"/>
          <a:lstStyle/>
          <a:p/>
        </p:txBody>
      </p:sp>
      <p:sp>
        <p:nvSpPr>
          <p:cNvPr id="103" name="Stat-n"/>
          <p:cNvSpPr>
            <a:spLocks noGrp="1"/>
          </p:cNvSpPr>
          <p:nvPr/>
        </p:nvSpPr>
        <p:spPr>
          <a:xfrm>
            <a:off x="914400" y="3380000"/>
            <a:ext cx="2350000" cy="85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$120M</a:t>
            </a:r>
            <a:endParaRPr lang="es-CL" sz="1800"/>
          </a:p>
        </p:txBody>
      </p:sp>
      <p:sp>
        <p:nvSpPr>
          <p:cNvPr id="104" name="Stat-t"/>
          <p:cNvSpPr>
            <a:spLocks noGrp="1"/>
          </p:cNvSpPr>
          <p:nvPr/>
        </p:nvSpPr>
        <p:spPr>
          <a:xfrm>
            <a:off x="914400" y="4320000"/>
            <a:ext cx="2350000" cy="6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Mercado</a:t>
            </a:r>
            <a:endParaRPr lang="es-CL" sz="1800"/>
          </a:p>
        </p:txBody>
      </p:sp>
      <p:sp>
        <p:nvSpPr>
          <p:cNvPr id="105" name="Stat"/>
          <p:cNvSpPr/>
          <p:nvPr/>
        </p:nvSpPr>
        <p:spPr>
          <a:xfrm>
            <a:off x="3685400" y="3100000"/>
            <a:ext cx="2350000" cy="1900000"/>
          </a:xfrm>
          <a:prstGeom prst="roundRect">
            <a:avLst>
              <a:gd name="adj" fmla="val 7000"/>
            </a:avLst>
          </a:prstGeom>
          <a:solidFill>
            <a:srgbClr val="818CF8"/>
          </a:solidFill>
        </p:spPr>
        <p:txBody>
          <a:bodyPr wrap="none" lIns="0" tIns="0" rIns="0" bIns="0"/>
          <a:lstStyle/>
          <a:p/>
        </p:txBody>
      </p:sp>
      <p:sp>
        <p:nvSpPr>
          <p:cNvPr id="106" name="Stat-n"/>
          <p:cNvSpPr>
            <a:spLocks noGrp="1"/>
          </p:cNvSpPr>
          <p:nvPr/>
        </p:nvSpPr>
        <p:spPr>
          <a:xfrm>
            <a:off x="3685400" y="3380000"/>
            <a:ext cx="2350000" cy="85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38%</a:t>
            </a:r>
            <a:endParaRPr lang="es-CL" sz="1800"/>
          </a:p>
        </p:txBody>
      </p:sp>
      <p:sp>
        <p:nvSpPr>
          <p:cNvPr id="107" name="Stat-t"/>
          <p:cNvSpPr>
            <a:spLocks noGrp="1"/>
          </p:cNvSpPr>
          <p:nvPr/>
        </p:nvSpPr>
        <p:spPr>
          <a:xfrm>
            <a:off x="3685400" y="4320000"/>
            <a:ext cx="2350000" cy="6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Margen</a:t>
            </a:r>
            <a:endParaRPr lang="es-CL" sz="1800"/>
          </a:p>
        </p:txBody>
      </p:sp>
      <p:sp>
        <p:nvSpPr>
          <p:cNvPr id="108" name="Stat"/>
          <p:cNvSpPr/>
          <p:nvPr/>
        </p:nvSpPr>
        <p:spPr>
          <a:xfrm>
            <a:off x="6456400" y="3100000"/>
            <a:ext cx="2350000" cy="1900000"/>
          </a:xfrm>
          <a:prstGeom prst="roundRect">
            <a:avLst>
              <a:gd name="adj" fmla="val 7000"/>
            </a:avLst>
          </a:prstGeom>
          <a:solidFill>
            <a:srgbClr val="6366F1"/>
          </a:solidFill>
        </p:spPr>
        <p:txBody>
          <a:bodyPr wrap="none" lIns="0" tIns="0" rIns="0" bIns="0"/>
          <a:lstStyle/>
          <a:p/>
        </p:txBody>
      </p:sp>
      <p:sp>
        <p:nvSpPr>
          <p:cNvPr id="109" name="Stat-n"/>
          <p:cNvSpPr>
            <a:spLocks noGrp="1"/>
          </p:cNvSpPr>
          <p:nvPr/>
        </p:nvSpPr>
        <p:spPr>
          <a:xfrm>
            <a:off x="6456400" y="3380000"/>
            <a:ext cx="2350000" cy="85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2.1M</a:t>
            </a:r>
            <a:endParaRPr lang="es-CL" sz="1800"/>
          </a:p>
        </p:txBody>
      </p:sp>
      <p:sp>
        <p:nvSpPr>
          <p:cNvPr id="110" name="Stat-t"/>
          <p:cNvSpPr>
            <a:spLocks noGrp="1"/>
          </p:cNvSpPr>
          <p:nvPr/>
        </p:nvSpPr>
        <p:spPr>
          <a:xfrm>
            <a:off x="6456400" y="4320000"/>
            <a:ext cx="2350000" cy="6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Usuarios</a:t>
            </a:r>
            <a:endParaRPr lang="es-CL" sz="1800"/>
          </a:p>
        </p:txBody>
      </p:sp>
      <p:sp>
        <p:nvSpPr>
          <p:cNvPr id="111" name="Stat"/>
          <p:cNvSpPr/>
          <p:nvPr/>
        </p:nvSpPr>
        <p:spPr>
          <a:xfrm>
            <a:off x="9227400" y="3100000"/>
            <a:ext cx="2350000" cy="1900000"/>
          </a:xfrm>
          <a:prstGeom prst="roundRect">
            <a:avLst>
              <a:gd name="adj" fmla="val 7000"/>
            </a:avLst>
          </a:prstGeom>
          <a:solidFill>
            <a:srgbClr val="818CF8"/>
          </a:solidFill>
        </p:spPr>
        <p:txBody>
          <a:bodyPr wrap="none" lIns="0" tIns="0" rIns="0" bIns="0"/>
          <a:lstStyle/>
          <a:p/>
        </p:txBody>
      </p:sp>
      <p:sp>
        <p:nvSpPr>
          <p:cNvPr id="112" name="Stat-n"/>
          <p:cNvSpPr>
            <a:spLocks noGrp="1"/>
          </p:cNvSpPr>
          <p:nvPr/>
        </p:nvSpPr>
        <p:spPr>
          <a:xfrm>
            <a:off x="9227400" y="3380000"/>
            <a:ext cx="2350000" cy="85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4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9×</a:t>
            </a:r>
            <a:endParaRPr lang="es-CL" sz="1800"/>
          </a:p>
        </p:txBody>
      </p:sp>
      <p:sp>
        <p:nvSpPr>
          <p:cNvPr id="113" name="Stat-t"/>
          <p:cNvSpPr>
            <a:spLocks noGrp="1"/>
          </p:cNvSpPr>
          <p:nvPr/>
        </p:nvSpPr>
        <p:spPr>
          <a:xfrm>
            <a:off x="9227400" y="4320000"/>
            <a:ext cx="2350000" cy="6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Retorno</a:t>
            </a:r>
            <a:endParaRPr lang="es-CL" sz="1800"/>
          </a:p>
        </p:txBody>
      </p:sp>
      <p:sp>
        <p:nvSpPr>
          <p:cNvPr id="114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A8AFC9"/>
                </a:solidFill>
                <a:latin typeface="Arial"/>
                <a:ea typeface="Arial"/>
                <a:cs typeface="Arial"/>
              </a:rPr>
              <a:t>Templa · Pitch Grid  |  6</a:t>
            </a:r>
            <a:endParaRPr lang="es-CL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3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0B1023"/>
          </a:solidFill>
        </p:spPr>
        <p:txBody>
          <a:bodyPr wrap="none" lIns="0" tIns="0" rIns="0" bIns="0"/>
          <a:lstStyle/>
          <a:p/>
        </p:txBody>
      </p:sp>
      <p:sp>
        <p:nvSpPr>
          <p:cNvPr id="115" name="Comilla"/>
          <p:cNvSpPr/>
          <p:nvPr/>
        </p:nvSpPr>
        <p:spPr>
          <a:xfrm>
            <a:off x="914400" y="1900000"/>
            <a:ext cx="1000000" cy="700000"/>
          </a:xfrm>
          <a:prstGeom prst="rect"/>
          <a:solidFill>
            <a:srgbClr val="6366F1"/>
          </a:solidFill>
        </p:spPr>
        <p:txBody>
          <a:bodyPr wrap="none" lIns="0" tIns="0" rIns="0" bIns="0"/>
          <a:lstStyle/>
          <a:p/>
        </p:txBody>
      </p:sp>
      <p:sp>
        <p:nvSpPr>
          <p:cNvPr id="116" name="Quote"/>
          <p:cNvSpPr>
            <a:spLocks noGrp="1"/>
          </p:cNvSpPr>
          <p:nvPr/>
        </p:nvSpPr>
        <p:spPr>
          <a:xfrm>
            <a:off x="1114400" y="2850000"/>
            <a:ext cx="9600000" cy="19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spcAft>
                <a:spcPts val="500"/>
              </a:spcAft>
              <a:buNone/>
            </a:pPr>
            <a:r>
              <a:rPr lang="es-CL" altLang="en-US" sz="3000" b="0" i="1" dirty="0">
                <a:solidFill>
                  <a:srgbClr val="F5F6FF"/>
                </a:solidFill>
                <a:latin typeface="Arial"/>
                <a:ea typeface="Arial"/>
                <a:cs typeface="Arial"/>
              </a:rPr>
              <a:t>Los mejores pitch decks cuentan una historia simple con números que la respaldan.</a:t>
            </a:r>
            <a:endParaRPr lang="es-CL" sz="1800"/>
          </a:p>
          <a:p>
            <a:pPr marL="0" indent="0" lvl="0">
              <a:spcBef>
                <a:spcPts val="600"/>
              </a:spcBef>
              <a:buNone/>
            </a:pPr>
            <a:r>
              <a:rPr lang="es-CL" altLang="en-US" sz="1800" b="1" dirty="0">
                <a:solidFill>
                  <a:srgbClr val="6366F1"/>
                </a:solidFill>
                <a:latin typeface="Arial"/>
                <a:ea typeface="Arial"/>
                <a:cs typeface="Arial"/>
              </a:rPr>
              <a:t>— Y Combinator</a:t>
            </a:r>
            <a:endParaRPr lang="es-CL" sz="1800"/>
          </a:p>
        </p:txBody>
      </p:sp>
      <p:sp>
        <p:nvSpPr>
          <p:cNvPr id="117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A8AFC9"/>
                </a:solidFill>
                <a:latin typeface="Arial"/>
                <a:ea typeface="Arial"/>
                <a:cs typeface="Arial"/>
              </a:rPr>
              <a:t>Templa · Pitch Grid  |  7</a:t>
            </a:r>
            <a:endParaRPr lang="es-CL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3" name="Fondo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0B1023"/>
          </a:solidFill>
        </p:spPr>
        <p:txBody>
          <a:bodyPr wrap="none" lIns="0" tIns="0" rIns="0" bIns="0"/>
          <a:lstStyle/>
          <a:p/>
        </p:txBody>
      </p:sp>
      <p:sp>
        <p:nvSpPr>
          <p:cNvPr id="118" name="Bloque marca"/>
          <p:cNvSpPr/>
          <p:nvPr/>
        </p:nvSpPr>
        <p:spPr>
          <a:xfrm>
            <a:off x="0" y="0"/>
            <a:ext cx="182880" cy="6858000"/>
          </a:xfrm>
          <a:prstGeom prst="rect"/>
          <a:solidFill>
            <a:srgbClr val="6366F1"/>
          </a:solidFill>
        </p:spPr>
        <p:txBody>
          <a:bodyPr wrap="none" lIns="0" tIns="0" rIns="0" bIns="0"/>
          <a:lstStyle/>
          <a:p/>
        </p:txBody>
      </p:sp>
      <p:sp>
        <p:nvSpPr>
          <p:cNvPr id="119" name="Glow"/>
          <p:cNvSpPr/>
          <p:nvPr/>
        </p:nvSpPr>
        <p:spPr>
          <a:xfrm>
            <a:off x="8992000" y="-1100000"/>
            <a:ext cx="4000000" cy="4000000"/>
          </a:xfrm>
          <a:prstGeom prst="rect"/>
          <a:solidFill>
            <a:srgbClr val="6366F1">
              <a:alpha val="14000"/>
            </a:srgbClr>
          </a:solidFill>
        </p:spPr>
        <p:txBody>
          <a:bodyPr wrap="none" lIns="0" tIns="0" rIns="0" bIns="0"/>
          <a:lstStyle/>
          <a:p/>
        </p:txBody>
      </p:sp>
      <p:sp>
        <p:nvSpPr>
          <p:cNvPr id="120" name="Cierre"/>
          <p:cNvSpPr>
            <a:spLocks noGrp="1"/>
          </p:cNvSpPr>
          <p:nvPr/>
        </p:nvSpPr>
        <p:spPr>
          <a:xfrm>
            <a:off x="914400" y="2700000"/>
            <a:ext cx="9400000" cy="10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5200" b="1" dirty="0">
                <a:solidFill>
                  <a:srgbClr val="F5F6FF"/>
                </a:solidFill>
                <a:latin typeface="Arial"/>
                <a:ea typeface="Arial"/>
                <a:cs typeface="Arial"/>
              </a:rPr>
              <a:t>Gracias</a:t>
            </a:r>
            <a:endParaRPr lang="es-CL" sz="1800"/>
          </a:p>
        </p:txBody>
      </p:sp>
      <p:sp>
        <p:nvSpPr>
          <p:cNvPr id="121" name="Cierre-sub"/>
          <p:cNvSpPr>
            <a:spLocks noGrp="1"/>
          </p:cNvSpPr>
          <p:nvPr/>
        </p:nvSpPr>
        <p:spPr>
          <a:xfrm>
            <a:off x="914400" y="3850000"/>
            <a:ext cx="9000000" cy="5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2000" b="0" dirty="0">
                <a:solidFill>
                  <a:srgbClr val="A8AFC9"/>
                </a:solidFill>
                <a:latin typeface="Arial"/>
                <a:ea typeface="Arial"/>
                <a:cs typeface="Arial"/>
              </a:rPr>
              <a:t>Inversión inicial USD 500K — reserva tu slot</a:t>
            </a:r>
            <a:endParaRPr lang="es-CL" sz="1800"/>
          </a:p>
        </p:txBody>
      </p:sp>
      <p:sp>
        <p:nvSpPr>
          <p:cNvPr id="122" name="Btn"/>
          <p:cNvSpPr/>
          <p:nvPr/>
        </p:nvSpPr>
        <p:spPr>
          <a:xfrm>
            <a:off x="914400" y="4700000"/>
            <a:ext cx="2800000" cy="800000"/>
          </a:xfrm>
          <a:prstGeom prst="roundRect">
            <a:avLst>
              <a:gd name="adj" fmla="val 16000"/>
            </a:avLst>
          </a:prstGeom>
          <a:solidFill>
            <a:srgbClr val="6366F1"/>
          </a:solidFill>
        </p:spPr>
        <p:txBody>
          <a:bodyPr wrap="none" lIns="0" tIns="0" rIns="0" bIns="0"/>
          <a:lstStyle/>
          <a:p/>
        </p:txBody>
      </p:sp>
      <p:sp>
        <p:nvSpPr>
          <p:cNvPr id="123" name="Btn-t"/>
          <p:cNvSpPr>
            <a:spLocks noGrp="1"/>
          </p:cNvSpPr>
          <p:nvPr/>
        </p:nvSpPr>
        <p:spPr>
          <a:xfrm>
            <a:off x="914400" y="4700000"/>
            <a:ext cx="2800000" cy="800000"/>
          </a:xfrm>
          <a:prstGeom prst="rect"/>
          <a:noFill/>
          <a:ln>
            <a:noFill/>
          </a:ln>
        </p:spPr>
        <p:txBody>
          <a:bodyPr wrap="square" anchor="ctr" lIns="0" tIns="0" rIns="0" bIns="0"/>
          <a:lstStyle/>
          <a:p>
            <a:pPr marL="0" indent="0" lvl="0">
              <a:buNone/>
            </a:pPr>
            <a:r>
              <a:rPr lang="es-CL" altLang="en-US" sz="17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Agendar call →</a:t>
            </a:r>
            <a:endParaRPr lang="es-CL" sz="1800"/>
          </a:p>
        </p:txBody>
      </p:sp>
      <p:sp>
        <p:nvSpPr>
          <p:cNvPr id="124" name="F-pie"/>
          <p:cNvSpPr>
            <a:spLocks noGrp="1"/>
          </p:cNvSpPr>
          <p:nvPr/>
        </p:nvSpPr>
        <p:spPr>
          <a:xfrm>
            <a:off x="914400" y="6288000"/>
            <a:ext cx="4000000" cy="300000"/>
          </a:xfrm>
          <a:prstGeom prst="rect"/>
          <a:noFill/>
          <a:ln>
            <a:noFill/>
          </a:ln>
        </p:spPr>
        <p:txBody>
          <a:bodyPr wrap="square" anchor="t" lIns="0" tIns="0" rIns="0" bIns="0"/>
          <a:lstStyle/>
          <a:p>
            <a:pPr marL="0" indent="0" lvl="0">
              <a:buNone/>
            </a:pPr>
            <a:r>
              <a:rPr lang="es-CL" altLang="en-US" sz="1000" b="0" dirty="0">
                <a:solidFill>
                  <a:srgbClr val="A8AFC9"/>
                </a:solidFill>
                <a:latin typeface="Arial"/>
                <a:ea typeface="Arial"/>
                <a:cs typeface="Arial"/>
              </a:rPr>
              <a:t>Templa · Pitch Grid  |  8</a:t>
            </a:r>
            <a:endParaRPr lang="es-CL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">
  <a:themeElements>
    <a:clrScheme name="Templa">
      <a:dk1>
        <a:srgbClr val="22222F"/>
      </a:dk1>
      <a:lt1>
        <a:srgbClr val="FFFFFF"/>
      </a:lt1>
      <a:dk2>
        <a:srgbClr val="44546A"/>
      </a:dk2>
      <a:lt2>
        <a:srgbClr val="E7E6E6"/>
      </a:lt2>
      <a:accent1>
        <a:srgbClr val="6366F1"/>
      </a:accent1>
      <a:accent2>
        <a:srgbClr val="818CF8"/>
      </a:accent2>
      <a:accent3>
        <a:srgbClr val="F59E0B"/>
      </a:accent3>
      <a:accent4>
        <a:srgbClr val="10B981"/>
      </a:accent4>
      <a:accent5>
        <a:srgbClr val="3B82F6"/>
      </a:accent5>
      <a:accent6>
        <a:srgbClr val="E11D48"/>
      </a:accent6>
      <a:hlink>
        <a:srgbClr val="0563C1"/>
      </a:hlink>
      <a:folHlink>
        <a:srgbClr val="954F72"/>
      </a:folHlink>
    </a:clrScheme>
    <a:fontScheme name="Templa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Templ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20000"/>
              </a:schemeClr>
            </a:gs>
          </a:gsLst>
          <a:lin ang="16200000" scaled="1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shade val="20000"/>
              </a:schemeClr>
            </a:gs>
            <a:gs pos="100000">
              <a:schemeClr val="phClr">
                <a:tint val="80000"/>
              </a:schemeClr>
            </a:gs>
          </a:gsLst>
          <a:path path="rect">
            <a:fillToRect l="50000" t="0" r="5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Templa Office Builder</Application>
  <PresentationFormat>Widescreen</PresentationFormat>
  <Slides>8</Slides>
  <Notes>0</Notes>
  <HiddenSlides>0</HiddenSlides>
  <MMClips>0</MMClip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Pitch Grid · undefined</dc:title>
  <dc:creator>Templa</dc:creator>
  <cp:lastModifiedBy>Templa</cp:lastModifiedBy>
  <dcterms:created xsi:type="dcterms:W3CDTF">2026-01-01T00:00:00Z</dcterms:created>
  <dcterms:modified xsi:type="dcterms:W3CDTF">2026-01-01T00:00:00Z</dcterms:modified>
</cp:coreProperties>
</file>